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718"/>
  </p:normalViewPr>
  <p:slideViewPr>
    <p:cSldViewPr snapToGrid="0">
      <p:cViewPr varScale="1">
        <p:scale>
          <a:sx n="138" d="100"/>
          <a:sy n="138" d="100"/>
        </p:scale>
        <p:origin x="1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MockupTool como modulo operativo de maquetas visuales, separado del arte final.</a:t>
            </a:r>
          </a:p>
          <a:p>
            <a:r>
              <a:t>La promesa central es validar primero, generar solo faltantes y dejar ruta consultable.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Enfatizar que la herramienta reduce busquedas y ambiguedad operativa.</a:t>
            </a:r>
          </a:p>
          <a:p>
            <a:r>
              <a:t>No hablar todavia de tecnologia; primero dejar claro el dolor del flujo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slide debe diferenciar el flujo real del repo: Validar trabaja en memoria.</a:t>
            </a:r>
          </a:p>
          <a:p>
            <a:r>
              <a:t>Generar siempre vuelve a validar, por eso no depende de un plan viejo.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esta slide para aclarar OD vs Genericas y los nuevos A1500/Y1500 shorts.</a:t>
            </a:r>
          </a:p>
          <a:p>
            <a:r>
              <a:t>Genericas se apoya en catalogo de variantes; no hardcodea todo desde el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vender Validar como vista previa solamente: es el plan de produccion.</a:t>
            </a:r>
          </a:p>
          <a:p>
            <a:r>
              <a:t>La bandera impreso vive separada del estado de generacion.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Aclarar que esta es una maqueta para revision y consulta, no el archivo final productivo.</a:t>
            </a:r>
          </a:p>
          <a:p>
            <a:r>
              <a:t>Mencionar que las firmas SVG se bloquean si no hay version raster.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Corregir cualquier duda: Genericas ya usa la carpeta fisica del Excel como raiz.</a:t>
            </a:r>
          </a:p>
          <a:p>
            <a:r>
              <a:t>El valor de path persistido evita reconstruir rutas en Control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Subrayar</a:t>
            </a:r>
            <a:r>
              <a:rPr dirty="0"/>
              <a:t> que </a:t>
            </a:r>
            <a:r>
              <a:rPr dirty="0" err="1"/>
              <a:t>impreso</a:t>
            </a:r>
            <a:r>
              <a:rPr dirty="0"/>
              <a:t>=1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aceptado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macOS, no </a:t>
            </a:r>
            <a:r>
              <a:rPr dirty="0" err="1"/>
              <a:t>garantia</a:t>
            </a:r>
            <a:r>
              <a:rPr dirty="0"/>
              <a:t> </a:t>
            </a:r>
            <a:r>
              <a:rPr dirty="0" err="1"/>
              <a:t>fisica</a:t>
            </a:r>
            <a:r>
              <a:rPr dirty="0"/>
              <a:t>.</a:t>
            </a:r>
          </a:p>
          <a:p>
            <a:r>
              <a:rPr dirty="0"/>
              <a:t>Items SIN REGISTRO no se </a:t>
            </a:r>
            <a:r>
              <a:rPr dirty="0" err="1"/>
              <a:t>mandan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defecto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no hay clave que </a:t>
            </a:r>
            <a:r>
              <a:rPr dirty="0" err="1"/>
              <a:t>actualizar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slide debe calmar la preocupacion de mezcla entre repos.</a:t>
            </a:r>
          </a:p>
          <a:p>
            <a:r>
              <a:t>La integracion es por la base central y campos persistidos, no por acoplar logica.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con la idea de evidencia recuperable: archivo, ruta, clave y estado.</a:t>
            </a:r>
          </a:p>
          <a:p>
            <a:r>
              <a:t>Las mejoras abiertas son oportunidades, no trabajo ya implementado.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8D2EC6D5-0B7E-4E6A-960A-0E42095B18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930551B-9FD6-442D-ACB3-E3B456F4C92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975" b="1" dirty="0">
                <a:solidFill>
                  <a:srgbClr val="AEB4BF"/>
                </a:solidFill>
              </a:rPr>
              <a:t>RMC </a:t>
            </a:r>
            <a:r>
              <a:rPr lang="es-ES_tradnl" sz="975" b="1">
                <a:solidFill>
                  <a:srgbClr val="AEB4BF"/>
                </a:solidFill>
              </a:rPr>
              <a:t>CONTROL SYSTEM</a:t>
            </a:r>
            <a:endParaRPr lang="es-ES_tradnl" sz="975" b="1" dirty="0">
              <a:solidFill>
                <a:srgbClr val="AEB4BF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3C64AD-0DD8-4A1D-8B39-CEF0B15F7065}"/>
              </a:ext>
            </a:extLst>
          </p:cNvPr>
          <p:cNvSpPr>
            <a:spLocks noGrp="1"/>
          </p:cNvSpPr>
          <p:nvPr/>
        </p:nvSpPr>
        <p:spPr>
          <a:xfrm>
            <a:off x="668483" y="3485300"/>
            <a:ext cx="5082815" cy="8930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  <a:buNone/>
              <a:defRPr sz="172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72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Maquetas visuales para validar, consultar e imprimir sin mezclar archivos finales de producción.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4F75909F-3EFC-4DB8-85C2-52D3727C0C85}"/>
              </a:ext>
            </a:extLst>
          </p:cNvPr>
          <p:cNvSpPr>
            <a:spLocks noGrp="1"/>
          </p:cNvSpPr>
          <p:nvPr/>
        </p:nvSpPr>
        <p:spPr>
          <a:xfrm>
            <a:off x="1351395" y="4665261"/>
            <a:ext cx="1104900" cy="266700"/>
          </a:xfrm>
          <a:prstGeom prst="roundRect">
            <a:avLst>
              <a:gd name="adj" fmla="val 42857"/>
            </a:avLst>
          </a:prstGeom>
          <a:solidFill>
            <a:srgbClr val="BD1F36"/>
          </a:solidFill>
          <a:ln w="9525">
            <a:solidFill>
              <a:srgbClr val="BD1F36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212E646-2FF8-42DC-A993-3A8F3BD79742}"/>
              </a:ext>
            </a:extLst>
          </p:cNvPr>
          <p:cNvSpPr>
            <a:spLocks noGrp="1"/>
          </p:cNvSpPr>
          <p:nvPr/>
        </p:nvSpPr>
        <p:spPr>
          <a:xfrm>
            <a:off x="1351395" y="4740699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78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s-ES_tradnl" sz="78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Excel Nike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1DDBFF45-ED9A-455C-ABF6-413FDF87213D}"/>
              </a:ext>
            </a:extLst>
          </p:cNvPr>
          <p:cNvSpPr>
            <a:spLocks noGrp="1"/>
          </p:cNvSpPr>
          <p:nvPr/>
        </p:nvSpPr>
        <p:spPr>
          <a:xfrm>
            <a:off x="2589645" y="4665261"/>
            <a:ext cx="1257300" cy="266700"/>
          </a:xfrm>
          <a:prstGeom prst="roundRect">
            <a:avLst>
              <a:gd name="adj" fmla="val 42857"/>
            </a:avLst>
          </a:prstGeom>
          <a:solidFill>
            <a:srgbClr val="2D7FF9"/>
          </a:solidFill>
          <a:ln w="9525">
            <a:solidFill>
              <a:srgbClr val="2D7FF9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D12B74D-7D83-4304-8701-3B048364F8D5}"/>
              </a:ext>
            </a:extLst>
          </p:cNvPr>
          <p:cNvSpPr>
            <a:spLocks noGrp="1"/>
          </p:cNvSpPr>
          <p:nvPr/>
        </p:nvSpPr>
        <p:spPr>
          <a:xfrm>
            <a:off x="2589645" y="4740699"/>
            <a:ext cx="1257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78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s-ES_tradnl" sz="78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PDF anotado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AF1BD726-996E-4DDE-A384-FBFC6F1C28FF}"/>
              </a:ext>
            </a:extLst>
          </p:cNvPr>
          <p:cNvSpPr>
            <a:spLocks noGrp="1"/>
          </p:cNvSpPr>
          <p:nvPr/>
        </p:nvSpPr>
        <p:spPr>
          <a:xfrm>
            <a:off x="3980295" y="4665261"/>
            <a:ext cx="1257300" cy="266700"/>
          </a:xfrm>
          <a:prstGeom prst="roundRect">
            <a:avLst>
              <a:gd name="adj" fmla="val 42857"/>
            </a:avLst>
          </a:prstGeom>
          <a:solidFill>
            <a:srgbClr val="20B26B"/>
          </a:solidFill>
          <a:ln w="9525">
            <a:solidFill>
              <a:srgbClr val="20B26B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1BB657E-AD15-4A69-A6DF-A17B9E2CF669}"/>
              </a:ext>
            </a:extLst>
          </p:cNvPr>
          <p:cNvSpPr>
            <a:spLocks noGrp="1"/>
          </p:cNvSpPr>
          <p:nvPr/>
        </p:nvSpPr>
        <p:spPr>
          <a:xfrm>
            <a:off x="3980295" y="4740699"/>
            <a:ext cx="1257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78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s-ES_tradnl" sz="78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SQLite propio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65C3C77-1BCF-4D6D-B7BE-81CFE8EC8BB5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900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Julio 2026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E9C0EBD-8BBB-4460-8DB4-22019035A92D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675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675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RMC Control System | RMC MockupTool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F52FD9B-3D74-4F90-B384-A55DB1632CD4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750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A71C6CD2-927C-DFDA-4B4A-127A084BB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24" y="1067378"/>
            <a:ext cx="5751801" cy="2129044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DEFF3DA8-388D-7FC8-8ADF-FF58C40B7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285" y="514350"/>
            <a:ext cx="2651413" cy="56350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C00000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0006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38D08E03-7574-4259-9E30-C08A0475620F}"/>
              </a:ext>
            </a:extLst>
          </p:cNvPr>
          <p:cNvSpPr>
            <a:spLocks noGrp="1"/>
          </p:cNvSpPr>
          <p:nvPr/>
        </p:nvSpPr>
        <p:spPr>
          <a:xfrm>
            <a:off x="490534" y="4191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975" b="1" dirty="0">
                <a:solidFill>
                  <a:srgbClr val="AEB4BF"/>
                </a:solidFill>
              </a:rPr>
              <a:t>PROBLEMA OPERATIVO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BE3F6D5-09DC-4E62-AF39-2476E8D9F5DE}"/>
              </a:ext>
            </a:extLst>
          </p:cNvPr>
          <p:cNvSpPr>
            <a:spLocks noGrp="1"/>
          </p:cNvSpPr>
          <p:nvPr/>
        </p:nvSpPr>
        <p:spPr>
          <a:xfrm>
            <a:off x="490533" y="666750"/>
            <a:ext cx="9791123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sz="2700" b="1" dirty="0">
                <a:solidFill>
                  <a:schemeClr val="bg1"/>
                </a:solidFill>
              </a:rPr>
              <a:t>Sin maqueta trazable, revisar se vuelve una cadena manual.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D57931C-29B3-4C44-92D6-FF7DE6589EC9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514350" cy="381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B473F0A9-E21C-4FF9-BD2C-3DAB1F555D00}"/>
              </a:ext>
            </a:extLst>
          </p:cNvPr>
          <p:cNvSpPr>
            <a:spLocks noGrp="1"/>
          </p:cNvSpPr>
          <p:nvPr/>
        </p:nvSpPr>
        <p:spPr>
          <a:xfrm>
            <a:off x="776284" y="1932940"/>
            <a:ext cx="2619375" cy="1123950"/>
          </a:xfrm>
          <a:prstGeom prst="roundRect">
            <a:avLst>
              <a:gd name="adj" fmla="val 6780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AB9C3A2-D752-4A31-A29C-A258411B16AE}"/>
              </a:ext>
            </a:extLst>
          </p:cNvPr>
          <p:cNvSpPr>
            <a:spLocks noGrp="1"/>
          </p:cNvSpPr>
          <p:nvPr/>
        </p:nvSpPr>
        <p:spPr>
          <a:xfrm>
            <a:off x="776284" y="1932940"/>
            <a:ext cx="47625" cy="112395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B43949-7C42-46FD-884D-AE59458C9CD8}"/>
              </a:ext>
            </a:extLst>
          </p:cNvPr>
          <p:cNvSpPr>
            <a:spLocks noGrp="1"/>
          </p:cNvSpPr>
          <p:nvPr/>
        </p:nvSpPr>
        <p:spPr>
          <a:xfrm>
            <a:off x="947734" y="2020688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Antes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DEF845-C100-4B1A-976A-633A7B8199B7}"/>
              </a:ext>
            </a:extLst>
          </p:cNvPr>
          <p:cNvSpPr>
            <a:spLocks noGrp="1"/>
          </p:cNvSpPr>
          <p:nvPr/>
        </p:nvSpPr>
        <p:spPr>
          <a:xfrm>
            <a:off x="947734" y="2325488"/>
            <a:ext cx="22955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Buscar maqueta, anotar datos manualmente y marcar en lista si ya esta impresa.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A4B8C49B-3C2D-4D16-BA7F-2457F0470959}"/>
              </a:ext>
            </a:extLst>
          </p:cNvPr>
          <p:cNvSpPr>
            <a:spLocks noGrp="1"/>
          </p:cNvSpPr>
          <p:nvPr/>
        </p:nvSpPr>
        <p:spPr>
          <a:xfrm>
            <a:off x="1347784" y="328549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09778D9-FFC9-4EDD-946E-407D24A446DD}"/>
              </a:ext>
            </a:extLst>
          </p:cNvPr>
          <p:cNvSpPr>
            <a:spLocks noGrp="1"/>
          </p:cNvSpPr>
          <p:nvPr/>
        </p:nvSpPr>
        <p:spPr>
          <a:xfrm>
            <a:off x="1347784" y="3285490"/>
            <a:ext cx="47625" cy="1123950"/>
          </a:xfrm>
          <a:prstGeom prst="rect">
            <a:avLst/>
          </a:prstGeom>
          <a:solidFill>
            <a:srgbClr val="F28C28"/>
          </a:solidFill>
          <a:ln w="0">
            <a:solidFill>
              <a:srgbClr val="F28C28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8F4C6FE-D83F-4EED-B2C6-A03BFACF37CD}"/>
              </a:ext>
            </a:extLst>
          </p:cNvPr>
          <p:cNvSpPr>
            <a:spLocks noGrp="1"/>
          </p:cNvSpPr>
          <p:nvPr/>
        </p:nvSpPr>
        <p:spPr>
          <a:xfrm>
            <a:off x="1519234" y="3373238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Riesgo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BF5A4D3-8F63-48BB-AA79-FF6C5E26BC05}"/>
              </a:ext>
            </a:extLst>
          </p:cNvPr>
          <p:cNvSpPr>
            <a:spLocks noGrp="1"/>
          </p:cNvSpPr>
          <p:nvPr/>
        </p:nvSpPr>
        <p:spPr>
          <a:xfrm>
            <a:off x="1519233" y="3678037"/>
            <a:ext cx="2905125" cy="6456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Era que los datos escritos en las maquetas podrían venir erróneos, provocando dudas durante el proceso.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DADB9B53-263F-4947-981E-F434548E80C5}"/>
              </a:ext>
            </a:extLst>
          </p:cNvPr>
          <p:cNvSpPr>
            <a:spLocks noGrp="1"/>
          </p:cNvSpPr>
          <p:nvPr/>
        </p:nvSpPr>
        <p:spPr>
          <a:xfrm>
            <a:off x="1919284" y="4638039"/>
            <a:ext cx="3143250" cy="1023501"/>
          </a:xfrm>
          <a:prstGeom prst="roundRect">
            <a:avLst>
              <a:gd name="adj" fmla="val 8163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CC38B81-84B1-40BB-A94E-50DC29073061}"/>
              </a:ext>
            </a:extLst>
          </p:cNvPr>
          <p:cNvSpPr>
            <a:spLocks noGrp="1"/>
          </p:cNvSpPr>
          <p:nvPr/>
        </p:nvSpPr>
        <p:spPr>
          <a:xfrm>
            <a:off x="1919284" y="4638040"/>
            <a:ext cx="45719" cy="1023500"/>
          </a:xfrm>
          <a:prstGeom prst="rect">
            <a:avLst/>
          </a:prstGeom>
          <a:solidFill>
            <a:srgbClr val="F3C747"/>
          </a:solidFill>
          <a:ln w="0">
            <a:solidFill>
              <a:srgbClr val="F3C747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D1FEECA-BBC9-489B-A40E-712FB4452999}"/>
              </a:ext>
            </a:extLst>
          </p:cNvPr>
          <p:cNvSpPr>
            <a:spLocks noGrp="1"/>
          </p:cNvSpPr>
          <p:nvPr/>
        </p:nvSpPr>
        <p:spPr>
          <a:xfrm>
            <a:off x="2090734" y="4685698"/>
            <a:ext cx="2333625" cy="272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Costo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5833A37-4FFB-4C50-B630-8A07E6B69516}"/>
              </a:ext>
            </a:extLst>
          </p:cNvPr>
          <p:cNvSpPr>
            <a:spLocks noGrp="1"/>
          </p:cNvSpPr>
          <p:nvPr/>
        </p:nvSpPr>
        <p:spPr>
          <a:xfrm>
            <a:off x="2090734" y="4956700"/>
            <a:ext cx="2876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Mas preguntas entre diseño, producción  o incluso tener que rehacer maquetas completas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27E4829D-AD89-4992-9AD2-3B4EFB2179FA}"/>
              </a:ext>
            </a:extLst>
          </p:cNvPr>
          <p:cNvSpPr>
            <a:spLocks noGrp="1"/>
          </p:cNvSpPr>
          <p:nvPr/>
        </p:nvSpPr>
        <p:spPr>
          <a:xfrm>
            <a:off x="5672134" y="1948815"/>
            <a:ext cx="5334000" cy="3143250"/>
          </a:xfrm>
          <a:prstGeom prst="roundRect">
            <a:avLst>
              <a:gd name="adj" fmla="val 2424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4F9C259-3828-4FC1-9816-CB61F71BE0E3}"/>
              </a:ext>
            </a:extLst>
          </p:cNvPr>
          <p:cNvSpPr>
            <a:spLocks noGrp="1"/>
          </p:cNvSpPr>
          <p:nvPr/>
        </p:nvSpPr>
        <p:spPr>
          <a:xfrm>
            <a:off x="6148384" y="244411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2250" b="1" dirty="0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El problema real no es crear una maqueta.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B5533D0-F2AD-4C5A-8BB4-A401CD894C09}"/>
              </a:ext>
            </a:extLst>
          </p:cNvPr>
          <p:cNvSpPr>
            <a:spLocks noGrp="1"/>
          </p:cNvSpPr>
          <p:nvPr/>
        </p:nvSpPr>
        <p:spPr>
          <a:xfrm>
            <a:off x="6129334" y="3339972"/>
            <a:ext cx="4191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650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Es saber con certeza si la información es correcta, donde qued</a:t>
            </a:r>
            <a:r>
              <a:rPr lang="es-ES_tradnl" sz="165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ó</a:t>
            </a:r>
            <a:r>
              <a:rPr lang="es-ES_tradnl" sz="1650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y que pedido representa.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009D82F-CC05-4270-BFEC-B8BFF442754B}"/>
              </a:ext>
            </a:extLst>
          </p:cNvPr>
          <p:cNvSpPr>
            <a:spLocks noGrp="1"/>
          </p:cNvSpPr>
          <p:nvPr/>
        </p:nvSpPr>
        <p:spPr>
          <a:xfrm>
            <a:off x="6148384" y="4463415"/>
            <a:ext cx="2095500" cy="47625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DD24C32-17CE-4651-BA49-54F40C4551FE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675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675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RMC Control System | RMC MockupTool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53376-EADD-419C-90DA-BEDEEFB0DE95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750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4063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 47">
            <a:extLst>
              <a:ext uri="{FF2B5EF4-FFF2-40B4-BE49-F238E27FC236}">
                <a16:creationId xmlns:a16="http://schemas.microsoft.com/office/drawing/2014/main" id="{612EC07A-28EF-4A71-9C29-3D6B050ECABD}"/>
              </a:ext>
            </a:extLst>
          </p:cNvPr>
          <p:cNvSpPr>
            <a:spLocks noGrp="1"/>
          </p:cNvSpPr>
          <p:nvPr/>
        </p:nvSpPr>
        <p:spPr>
          <a:xfrm>
            <a:off x="504822" y="4191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975" b="1" dirty="0">
                <a:solidFill>
                  <a:srgbClr val="AEB4BF"/>
                </a:solidFill>
              </a:rPr>
              <a:t>FLUJO SEGURO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30ABBFC-6E86-4E73-926C-E4BCA7963929}"/>
              </a:ext>
            </a:extLst>
          </p:cNvPr>
          <p:cNvSpPr>
            <a:spLocks noGrp="1"/>
          </p:cNvSpPr>
          <p:nvPr/>
        </p:nvSpPr>
        <p:spPr>
          <a:xfrm>
            <a:off x="504822" y="666750"/>
            <a:ext cx="1005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sz="2700" b="1">
                <a:solidFill>
                  <a:schemeClr val="bg1"/>
                </a:solidFill>
              </a:rPr>
              <a:t>MockupTool convierte el Excel en un plan antes de escribir.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72DAC74-5E17-4B39-A438-567CDF250736}"/>
              </a:ext>
            </a:extLst>
          </p:cNvPr>
          <p:cNvSpPr>
            <a:spLocks noGrp="1"/>
          </p:cNvSpPr>
          <p:nvPr/>
        </p:nvSpPr>
        <p:spPr>
          <a:xfrm>
            <a:off x="523872" y="1114425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350">
                <a:solidFill>
                  <a:srgbClr val="AEB4BF"/>
                </a:solidFill>
              </a:rPr>
              <a:t>El flujo productivo del repo esta construido alrededor de una regla: validar primero y generar después.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3C016F6-D7DD-4286-979B-64BDCF1E451C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514350" cy="381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CCF649B8-FFEA-48E2-A1E7-B717A902451E}"/>
              </a:ext>
            </a:extLst>
          </p:cNvPr>
          <p:cNvSpPr>
            <a:spLocks noGrp="1"/>
          </p:cNvSpPr>
          <p:nvPr/>
        </p:nvSpPr>
        <p:spPr>
          <a:xfrm>
            <a:off x="701040" y="2333625"/>
            <a:ext cx="2132838" cy="1562100"/>
          </a:xfrm>
          <a:prstGeom prst="roundRect">
            <a:avLst>
              <a:gd name="adj" fmla="val 4878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4A404F1-31A1-44C9-B96F-504055E599E4}"/>
              </a:ext>
            </a:extLst>
          </p:cNvPr>
          <p:cNvSpPr>
            <a:spLocks noGrp="1"/>
          </p:cNvSpPr>
          <p:nvPr/>
        </p:nvSpPr>
        <p:spPr>
          <a:xfrm>
            <a:off x="701040" y="2333625"/>
            <a:ext cx="2132838" cy="66675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91971EA-8641-4DF8-8E2B-1BD9170C5928}"/>
              </a:ext>
            </a:extLst>
          </p:cNvPr>
          <p:cNvSpPr>
            <a:spLocks noGrp="1"/>
          </p:cNvSpPr>
          <p:nvPr/>
        </p:nvSpPr>
        <p:spPr>
          <a:xfrm>
            <a:off x="853440" y="25717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225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E7AEF7-D527-4A10-ACF2-32FCBADA0102}"/>
              </a:ext>
            </a:extLst>
          </p:cNvPr>
          <p:cNvSpPr>
            <a:spLocks noGrp="1"/>
          </p:cNvSpPr>
          <p:nvPr/>
        </p:nvSpPr>
        <p:spPr>
          <a:xfrm>
            <a:off x="1053846" y="2584704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Preparar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B56BF28-6732-40C0-B2DC-00A7ECD32939}"/>
              </a:ext>
            </a:extLst>
          </p:cNvPr>
          <p:cNvSpPr>
            <a:spLocks noGrp="1"/>
          </p:cNvSpPr>
          <p:nvPr/>
        </p:nvSpPr>
        <p:spPr>
          <a:xfrm>
            <a:off x="735330" y="2977895"/>
            <a:ext cx="2052828" cy="6214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Excel, Sección (Personalizadas o Genérica) , salida, diseñador y filtros.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BEE15CC-236A-4875-BB53-176985A47A34}"/>
              </a:ext>
            </a:extLst>
          </p:cNvPr>
          <p:cNvSpPr>
            <a:spLocks noGrp="1"/>
          </p:cNvSpPr>
          <p:nvPr/>
        </p:nvSpPr>
        <p:spPr>
          <a:xfrm>
            <a:off x="2931414" y="29146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195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044681F4-E2AB-45C8-BDF2-356E15912DEC}"/>
              </a:ext>
            </a:extLst>
          </p:cNvPr>
          <p:cNvSpPr>
            <a:spLocks noGrp="1"/>
          </p:cNvSpPr>
          <p:nvPr/>
        </p:nvSpPr>
        <p:spPr>
          <a:xfrm>
            <a:off x="3045714" y="2333625"/>
            <a:ext cx="1943100" cy="1562100"/>
          </a:xfrm>
          <a:prstGeom prst="roundRect">
            <a:avLst>
              <a:gd name="adj" fmla="val 4878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BDCC709-3320-4A54-BD3F-8D70FC583EFB}"/>
              </a:ext>
            </a:extLst>
          </p:cNvPr>
          <p:cNvSpPr>
            <a:spLocks noGrp="1"/>
          </p:cNvSpPr>
          <p:nvPr/>
        </p:nvSpPr>
        <p:spPr>
          <a:xfrm>
            <a:off x="3045714" y="2333625"/>
            <a:ext cx="1943100" cy="66675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2A299B-E551-4109-B092-4511E280477B}"/>
              </a:ext>
            </a:extLst>
          </p:cNvPr>
          <p:cNvSpPr>
            <a:spLocks noGrp="1"/>
          </p:cNvSpPr>
          <p:nvPr/>
        </p:nvSpPr>
        <p:spPr>
          <a:xfrm>
            <a:off x="3198114" y="25717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225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97E44E1-0F2B-48D6-AE2D-3578C5F762D8}"/>
              </a:ext>
            </a:extLst>
          </p:cNvPr>
          <p:cNvSpPr>
            <a:spLocks noGrp="1"/>
          </p:cNvSpPr>
          <p:nvPr/>
        </p:nvSpPr>
        <p:spPr>
          <a:xfrm>
            <a:off x="3398520" y="2584704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Validar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E5A99F-8576-4CA2-A5BA-C509829B7083}"/>
              </a:ext>
            </a:extLst>
          </p:cNvPr>
          <p:cNvSpPr>
            <a:spLocks noGrp="1"/>
          </p:cNvSpPr>
          <p:nvPr/>
        </p:nvSpPr>
        <p:spPr>
          <a:xfrm>
            <a:off x="3125724" y="2950463"/>
            <a:ext cx="1765554" cy="6214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Calcula faltantes, creados y conflictos.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B6F3E7A-F33E-444D-BDDD-F24F015ADF13}"/>
              </a:ext>
            </a:extLst>
          </p:cNvPr>
          <p:cNvSpPr>
            <a:spLocks noGrp="1"/>
          </p:cNvSpPr>
          <p:nvPr/>
        </p:nvSpPr>
        <p:spPr>
          <a:xfrm>
            <a:off x="5084064" y="29146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195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EF41AE89-E103-4C2B-ABA8-BC5149277AED}"/>
              </a:ext>
            </a:extLst>
          </p:cNvPr>
          <p:cNvSpPr>
            <a:spLocks noGrp="1"/>
          </p:cNvSpPr>
          <p:nvPr/>
        </p:nvSpPr>
        <p:spPr>
          <a:xfrm>
            <a:off x="5198364" y="2333625"/>
            <a:ext cx="1943100" cy="1562100"/>
          </a:xfrm>
          <a:prstGeom prst="roundRect">
            <a:avLst>
              <a:gd name="adj" fmla="val 4878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0449C2C-CD96-4EE2-A69D-12F23B9CA97A}"/>
              </a:ext>
            </a:extLst>
          </p:cNvPr>
          <p:cNvSpPr>
            <a:spLocks noGrp="1"/>
          </p:cNvSpPr>
          <p:nvPr/>
        </p:nvSpPr>
        <p:spPr>
          <a:xfrm>
            <a:off x="5198364" y="2333625"/>
            <a:ext cx="1943100" cy="66675"/>
          </a:xfrm>
          <a:prstGeom prst="rect">
            <a:avLst/>
          </a:prstGeom>
          <a:solidFill>
            <a:srgbClr val="F3C747"/>
          </a:solidFill>
          <a:ln w="0">
            <a:solidFill>
              <a:srgbClr val="F3C747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352BF96-F5DC-4D4D-B08A-605E88154B23}"/>
              </a:ext>
            </a:extLst>
          </p:cNvPr>
          <p:cNvSpPr>
            <a:spLocks noGrp="1"/>
          </p:cNvSpPr>
          <p:nvPr/>
        </p:nvSpPr>
        <p:spPr>
          <a:xfrm>
            <a:off x="5350764" y="25717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225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ADFB0C8-14E7-4CB3-A4F7-DAAEA5524843}"/>
              </a:ext>
            </a:extLst>
          </p:cNvPr>
          <p:cNvSpPr>
            <a:spLocks noGrp="1"/>
          </p:cNvSpPr>
          <p:nvPr/>
        </p:nvSpPr>
        <p:spPr>
          <a:xfrm>
            <a:off x="5551170" y="2584704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Generar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F4B9F70-8584-4037-A6ED-565808FF3B8F}"/>
              </a:ext>
            </a:extLst>
          </p:cNvPr>
          <p:cNvSpPr>
            <a:spLocks noGrp="1"/>
          </p:cNvSpPr>
          <p:nvPr/>
        </p:nvSpPr>
        <p:spPr>
          <a:xfrm>
            <a:off x="5278374" y="2950463"/>
            <a:ext cx="1765554" cy="6214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Vuelve a validar y procesa solo FALTANTE.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7B019C2-6117-4722-A41C-BB77F139E6CC}"/>
              </a:ext>
            </a:extLst>
          </p:cNvPr>
          <p:cNvSpPr>
            <a:spLocks noGrp="1"/>
          </p:cNvSpPr>
          <p:nvPr/>
        </p:nvSpPr>
        <p:spPr>
          <a:xfrm>
            <a:off x="7236714" y="29146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195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7216F404-8874-4CD7-8B0C-A6917A5D9943}"/>
              </a:ext>
            </a:extLst>
          </p:cNvPr>
          <p:cNvSpPr>
            <a:spLocks noGrp="1"/>
          </p:cNvSpPr>
          <p:nvPr/>
        </p:nvSpPr>
        <p:spPr>
          <a:xfrm>
            <a:off x="7351014" y="2333625"/>
            <a:ext cx="1943100" cy="1562100"/>
          </a:xfrm>
          <a:prstGeom prst="roundRect">
            <a:avLst>
              <a:gd name="adj" fmla="val 4878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1293BF2-B288-4EC1-B4AE-CC44D0A7766D}"/>
              </a:ext>
            </a:extLst>
          </p:cNvPr>
          <p:cNvSpPr>
            <a:spLocks noGrp="1"/>
          </p:cNvSpPr>
          <p:nvPr/>
        </p:nvSpPr>
        <p:spPr>
          <a:xfrm>
            <a:off x="7351014" y="2333625"/>
            <a:ext cx="1943100" cy="66675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A8AC06B-1FF9-431F-8E9E-BE7564582B63}"/>
              </a:ext>
            </a:extLst>
          </p:cNvPr>
          <p:cNvSpPr>
            <a:spLocks noGrp="1"/>
          </p:cNvSpPr>
          <p:nvPr/>
        </p:nvSpPr>
        <p:spPr>
          <a:xfrm>
            <a:off x="7503414" y="25717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225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3F0A26A-8CAF-4D9C-A183-05BA1B258488}"/>
              </a:ext>
            </a:extLst>
          </p:cNvPr>
          <p:cNvSpPr>
            <a:spLocks noGrp="1"/>
          </p:cNvSpPr>
          <p:nvPr/>
        </p:nvSpPr>
        <p:spPr>
          <a:xfrm>
            <a:off x="7703820" y="2584704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Registrar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0B26699-9B9A-4080-8567-9755CA1AB24A}"/>
              </a:ext>
            </a:extLst>
          </p:cNvPr>
          <p:cNvSpPr>
            <a:spLocks noGrp="1"/>
          </p:cNvSpPr>
          <p:nvPr/>
        </p:nvSpPr>
        <p:spPr>
          <a:xfrm>
            <a:off x="7431024" y="2950463"/>
            <a:ext cx="1765554" cy="6214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Guarda ejecuciones, ítems y rutas en BD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F3B58D8-3575-4D9F-89BE-E8582492E4FB}"/>
              </a:ext>
            </a:extLst>
          </p:cNvPr>
          <p:cNvSpPr>
            <a:spLocks noGrp="1"/>
          </p:cNvSpPr>
          <p:nvPr/>
        </p:nvSpPr>
        <p:spPr>
          <a:xfrm>
            <a:off x="9389364" y="29146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195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6437BC32-ACD0-41FE-A5D3-2A94358F1470}"/>
              </a:ext>
            </a:extLst>
          </p:cNvPr>
          <p:cNvSpPr>
            <a:spLocks noGrp="1"/>
          </p:cNvSpPr>
          <p:nvPr/>
        </p:nvSpPr>
        <p:spPr>
          <a:xfrm>
            <a:off x="9503664" y="2333625"/>
            <a:ext cx="1943100" cy="1562100"/>
          </a:xfrm>
          <a:prstGeom prst="roundRect">
            <a:avLst>
              <a:gd name="adj" fmla="val 4878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5D3CBFF-84FD-46CE-A61C-59DBC93E1F9F}"/>
              </a:ext>
            </a:extLst>
          </p:cNvPr>
          <p:cNvSpPr>
            <a:spLocks noGrp="1"/>
          </p:cNvSpPr>
          <p:nvPr/>
        </p:nvSpPr>
        <p:spPr>
          <a:xfrm>
            <a:off x="9503664" y="2333625"/>
            <a:ext cx="1943100" cy="66675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A38DC1A-C4C4-4E3E-A54D-C99A6E332350}"/>
              </a:ext>
            </a:extLst>
          </p:cNvPr>
          <p:cNvSpPr>
            <a:spLocks noGrp="1"/>
          </p:cNvSpPr>
          <p:nvPr/>
        </p:nvSpPr>
        <p:spPr>
          <a:xfrm>
            <a:off x="9656064" y="25717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225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9ABCEFE-865E-4135-86C2-5ED4447F41E4}"/>
              </a:ext>
            </a:extLst>
          </p:cNvPr>
          <p:cNvSpPr>
            <a:spLocks noGrp="1"/>
          </p:cNvSpPr>
          <p:nvPr/>
        </p:nvSpPr>
        <p:spPr>
          <a:xfrm>
            <a:off x="9856470" y="2584704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Imprimir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036A492-D76E-4F53-AE44-539BCC95FFED}"/>
              </a:ext>
            </a:extLst>
          </p:cNvPr>
          <p:cNvSpPr>
            <a:spLocks noGrp="1"/>
          </p:cNvSpPr>
          <p:nvPr/>
        </p:nvSpPr>
        <p:spPr>
          <a:xfrm>
            <a:off x="9583674" y="2950463"/>
            <a:ext cx="1765554" cy="6214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Revisa cola de impresión (EPSON), confirma, usa </a:t>
            </a:r>
            <a:r>
              <a:rPr lang="es-ES_tradnl" sz="1200" dirty="0" err="1">
                <a:solidFill>
                  <a:srgbClr val="AEB4BF"/>
                </a:solidFill>
              </a:rPr>
              <a:t>lp</a:t>
            </a:r>
            <a:r>
              <a:rPr lang="es-ES_tradnl" sz="1200" dirty="0">
                <a:solidFill>
                  <a:srgbClr val="AEB4BF"/>
                </a:solidFill>
              </a:rPr>
              <a:t> y marca impreso.</a:t>
            </a:r>
          </a:p>
        </p:txBody>
      </p:sp>
      <p:sp>
        <p:nvSpPr>
          <p:cNvPr id="34" name="Rectángulo redondeado 33">
            <a:extLst>
              <a:ext uri="{FF2B5EF4-FFF2-40B4-BE49-F238E27FC236}">
                <a16:creationId xmlns:a16="http://schemas.microsoft.com/office/drawing/2014/main" id="{2FA43405-3CEA-4218-A11A-10F4CAA2F392}"/>
              </a:ext>
            </a:extLst>
          </p:cNvPr>
          <p:cNvSpPr>
            <a:spLocks noGrp="1"/>
          </p:cNvSpPr>
          <p:nvPr/>
        </p:nvSpPr>
        <p:spPr>
          <a:xfrm>
            <a:off x="3122676" y="4838700"/>
            <a:ext cx="2697480" cy="953453"/>
          </a:xfrm>
          <a:prstGeom prst="roundRect">
            <a:avLst>
              <a:gd name="adj" fmla="val 10256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11A8C317-2CA6-4CFE-9B78-C6FD21C74108}"/>
              </a:ext>
            </a:extLst>
          </p:cNvPr>
          <p:cNvSpPr>
            <a:spLocks noGrp="1"/>
          </p:cNvSpPr>
          <p:nvPr/>
        </p:nvSpPr>
        <p:spPr>
          <a:xfrm>
            <a:off x="3122676" y="4838702"/>
            <a:ext cx="70797" cy="953451"/>
          </a:xfrm>
          <a:prstGeom prst="rect">
            <a:avLst/>
          </a:prstGeom>
          <a:solidFill>
            <a:srgbClr val="2D7FF9"/>
          </a:solidFill>
          <a:ln w="0">
            <a:solidFill>
              <a:srgbClr val="2D7FF9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639306B0-B599-490E-A6DD-B1BE39476291}"/>
              </a:ext>
            </a:extLst>
          </p:cNvPr>
          <p:cNvSpPr>
            <a:spLocks noGrp="1"/>
          </p:cNvSpPr>
          <p:nvPr/>
        </p:nvSpPr>
        <p:spPr>
          <a:xfrm>
            <a:off x="3294126" y="4952144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Validar no escribe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D04B5D5C-706D-423D-80AE-32C53694F664}"/>
              </a:ext>
            </a:extLst>
          </p:cNvPr>
          <p:cNvSpPr>
            <a:spLocks noGrp="1"/>
          </p:cNvSpPr>
          <p:nvPr/>
        </p:nvSpPr>
        <p:spPr>
          <a:xfrm>
            <a:off x="3294126" y="5256944"/>
            <a:ext cx="2247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No crea </a:t>
            </a:r>
            <a:r>
              <a:rPr lang="es-ES_tradnl" sz="1200" dirty="0" err="1">
                <a:solidFill>
                  <a:srgbClr val="AEB4BF"/>
                </a:solidFill>
              </a:rPr>
              <a:t>PDFs</a:t>
            </a:r>
            <a:r>
              <a:rPr lang="es-ES_tradnl" sz="1200" dirty="0">
                <a:solidFill>
                  <a:srgbClr val="AEB4BF"/>
                </a:solidFill>
              </a:rPr>
              <a:t>, ejecuciones ni </a:t>
            </a:r>
            <a:r>
              <a:rPr lang="es-ES_tradnl" sz="1200" dirty="0" err="1">
                <a:solidFill>
                  <a:srgbClr val="AEB4BF"/>
                </a:solidFill>
              </a:rPr>
              <a:t>items</a:t>
            </a:r>
            <a:r>
              <a:rPr lang="es-ES_tradnl" sz="1200" dirty="0">
                <a:solidFill>
                  <a:srgbClr val="AEB4BF"/>
                </a:solidFill>
              </a:rPr>
              <a:t>.</a:t>
            </a:r>
          </a:p>
        </p:txBody>
      </p:sp>
      <p:sp>
        <p:nvSpPr>
          <p:cNvPr id="38" name="Rectángulo redondeado 37">
            <a:extLst>
              <a:ext uri="{FF2B5EF4-FFF2-40B4-BE49-F238E27FC236}">
                <a16:creationId xmlns:a16="http://schemas.microsoft.com/office/drawing/2014/main" id="{27FB3A19-50FC-4BEA-A9F5-FEE065F5E389}"/>
              </a:ext>
            </a:extLst>
          </p:cNvPr>
          <p:cNvSpPr>
            <a:spLocks noGrp="1"/>
          </p:cNvSpPr>
          <p:nvPr/>
        </p:nvSpPr>
        <p:spPr>
          <a:xfrm>
            <a:off x="6551676" y="4838700"/>
            <a:ext cx="2697480" cy="953453"/>
          </a:xfrm>
          <a:prstGeom prst="roundRect">
            <a:avLst>
              <a:gd name="adj" fmla="val 10256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0576D41-A745-4C21-881A-F254828CCBC8}"/>
              </a:ext>
            </a:extLst>
          </p:cNvPr>
          <p:cNvSpPr>
            <a:spLocks noGrp="1"/>
          </p:cNvSpPr>
          <p:nvPr/>
        </p:nvSpPr>
        <p:spPr>
          <a:xfrm>
            <a:off x="6551676" y="4838702"/>
            <a:ext cx="70797" cy="953451"/>
          </a:xfrm>
          <a:prstGeom prst="rect">
            <a:avLst/>
          </a:prstGeom>
          <a:solidFill>
            <a:srgbClr val="20B26B"/>
          </a:solidFill>
          <a:ln w="0">
            <a:solidFill>
              <a:srgbClr val="20B26B"/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08A252B-66C9-4A0A-9208-208C436D5870}"/>
              </a:ext>
            </a:extLst>
          </p:cNvPr>
          <p:cNvSpPr>
            <a:spLocks noGrp="1"/>
          </p:cNvSpPr>
          <p:nvPr/>
        </p:nvSpPr>
        <p:spPr>
          <a:xfrm>
            <a:off x="6723126" y="4952144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No reemplaza </a:t>
            </a:r>
            <a:r>
              <a:rPr lang="es-ES_tradnl" b="1" dirty="0" err="1">
                <a:solidFill>
                  <a:schemeClr val="bg1"/>
                </a:solidFill>
              </a:rPr>
              <a:t>PDFs</a:t>
            </a:r>
            <a:endParaRPr lang="es-ES_tradnl" b="1" dirty="0">
              <a:solidFill>
                <a:schemeClr val="bg1"/>
              </a:solidFill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3995EDB9-96BA-4B51-99D9-519F503AEC39}"/>
              </a:ext>
            </a:extLst>
          </p:cNvPr>
          <p:cNvSpPr>
            <a:spLocks noGrp="1"/>
          </p:cNvSpPr>
          <p:nvPr/>
        </p:nvSpPr>
        <p:spPr>
          <a:xfrm>
            <a:off x="6723126" y="5256944"/>
            <a:ext cx="2247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Un archivo existente se reporta y se omite.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03329A19-1645-4B90-A0F9-9DFAC96933E4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675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675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RMC Control System | RMC MockupTool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21AC1C3C-0F92-4B2C-B77D-97B6F1F09FFD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750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08EA8A86-83A3-9E96-C469-D35747D6431F}"/>
              </a:ext>
            </a:extLst>
          </p:cNvPr>
          <p:cNvSpPr>
            <a:spLocks noGrp="1"/>
          </p:cNvSpPr>
          <p:nvPr/>
        </p:nvSpPr>
        <p:spPr>
          <a:xfrm>
            <a:off x="4591050" y="-1738312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975" b="1" dirty="0">
                <a:solidFill>
                  <a:srgbClr val="AEB4BF"/>
                </a:solidFill>
              </a:rPr>
              <a:t>PROBLEMA OPERATIVO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F7FF63FB-253A-3783-FE66-F173D25EE724}"/>
              </a:ext>
            </a:extLst>
          </p:cNvPr>
          <p:cNvSpPr>
            <a:spLocks noGrp="1"/>
          </p:cNvSpPr>
          <p:nvPr/>
        </p:nvSpPr>
        <p:spPr>
          <a:xfrm>
            <a:off x="4552950" y="-1547812"/>
            <a:ext cx="9791123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sz="2700" b="1">
                <a:solidFill>
                  <a:schemeClr val="bg1"/>
                </a:solidFill>
              </a:rPr>
              <a:t>Sin mockup trazable, revisar se vuelve una cadena manual.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6DA1F866-4EF8-F9EB-565C-E9AF993D7D59}"/>
              </a:ext>
            </a:extLst>
          </p:cNvPr>
          <p:cNvSpPr>
            <a:spLocks noGrp="1"/>
          </p:cNvSpPr>
          <p:nvPr/>
        </p:nvSpPr>
        <p:spPr>
          <a:xfrm>
            <a:off x="4591048" y="-928687"/>
            <a:ext cx="92447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350">
                <a:solidFill>
                  <a:srgbClr val="AEB4BF"/>
                </a:solidFill>
              </a:rPr>
              <a:t>El operador debe unir Excel, equipo, style, plantilla base, carpeta de salida y estado de impresión sin una evidencia visual única.</a:t>
            </a:r>
          </a:p>
        </p:txBody>
      </p:sp>
    </p:spTree>
    <p:extLst>
      <p:ext uri="{BB962C8B-B14F-4D97-AF65-F5344CB8AC3E}">
        <p14:creationId xmlns:p14="http://schemas.microsoft.com/office/powerpoint/2010/main" val="93196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759657A3-77F4-4581-B81E-5B620681090D}"/>
              </a:ext>
            </a:extLst>
          </p:cNvPr>
          <p:cNvSpPr>
            <a:spLocks noGrp="1"/>
          </p:cNvSpPr>
          <p:nvPr/>
        </p:nvSpPr>
        <p:spPr>
          <a:xfrm>
            <a:off x="490534" y="390524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975" b="1">
                <a:solidFill>
                  <a:srgbClr val="AEB4BF"/>
                </a:solidFill>
              </a:rPr>
              <a:t>EXCEL Y VARIANTES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2955AB1-19D4-48D9-8D2C-74F5B94BE7C3}"/>
              </a:ext>
            </a:extLst>
          </p:cNvPr>
          <p:cNvSpPr>
            <a:spLocks noGrp="1"/>
          </p:cNvSpPr>
          <p:nvPr/>
        </p:nvSpPr>
        <p:spPr>
          <a:xfrm>
            <a:off x="490534" y="638174"/>
            <a:ext cx="10267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sz="2700" b="1" dirty="0">
                <a:solidFill>
                  <a:schemeClr val="bg1"/>
                </a:solidFill>
              </a:rPr>
              <a:t>La sección activa define que Excel es valido.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3640BFC-B8AA-49E0-9222-59EBEB236A2E}"/>
              </a:ext>
            </a:extLst>
          </p:cNvPr>
          <p:cNvSpPr>
            <a:spLocks noGrp="1"/>
          </p:cNvSpPr>
          <p:nvPr/>
        </p:nvSpPr>
        <p:spPr>
          <a:xfrm>
            <a:off x="495296" y="1147761"/>
            <a:ext cx="8934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350" dirty="0">
                <a:solidFill>
                  <a:srgbClr val="AEB4BF"/>
                </a:solidFill>
              </a:rPr>
              <a:t>El panel no cambia de modo automáticamente.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38741D6-00DA-44E1-B080-95BE6D02B0F7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514350" cy="381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E3D34E5-A028-401E-BBA1-C2C914CBB6E1}"/>
              </a:ext>
            </a:extLst>
          </p:cNvPr>
          <p:cNvSpPr>
            <a:spLocks noGrp="1"/>
          </p:cNvSpPr>
          <p:nvPr/>
        </p:nvSpPr>
        <p:spPr>
          <a:xfrm>
            <a:off x="419100" y="2143125"/>
            <a:ext cx="5448300" cy="3286125"/>
          </a:xfrm>
          <a:prstGeom prst="roundRect">
            <a:avLst>
              <a:gd name="adj" fmla="val 2319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D159831-CE59-4A80-9C3D-26BF32BB7E3F}"/>
              </a:ext>
            </a:extLst>
          </p:cNvPr>
          <p:cNvSpPr>
            <a:spLocks noGrp="1"/>
          </p:cNvSpPr>
          <p:nvPr/>
        </p:nvSpPr>
        <p:spPr>
          <a:xfrm>
            <a:off x="419100" y="2143125"/>
            <a:ext cx="5448300" cy="762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3C6E21-31B1-4BD5-9659-8FE85F4BC335}"/>
              </a:ext>
            </a:extLst>
          </p:cNvPr>
          <p:cNvSpPr>
            <a:spLocks noGrp="1"/>
          </p:cNvSpPr>
          <p:nvPr/>
        </p:nvSpPr>
        <p:spPr>
          <a:xfrm>
            <a:off x="703259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2025" b="1" dirty="0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Personalizadas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1B2C4C69-B8FD-4325-A3B1-DF386120A7B7}"/>
              </a:ext>
            </a:extLst>
          </p:cNvPr>
          <p:cNvSpPr>
            <a:spLocks noGrp="1"/>
          </p:cNvSpPr>
          <p:nvPr/>
        </p:nvSpPr>
        <p:spPr>
          <a:xfrm>
            <a:off x="703259" y="2952750"/>
            <a:ext cx="1485900" cy="266700"/>
          </a:xfrm>
          <a:prstGeom prst="roundRect">
            <a:avLst>
              <a:gd name="adj" fmla="val 42857"/>
            </a:avLst>
          </a:prstGeom>
          <a:solidFill>
            <a:srgbClr val="BD1F36"/>
          </a:solidFill>
          <a:ln w="9525">
            <a:solidFill>
              <a:srgbClr val="BD1F36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FF421F3-F171-485F-8802-6A8555A44EAE}"/>
              </a:ext>
            </a:extLst>
          </p:cNvPr>
          <p:cNvSpPr>
            <a:spLocks noGrp="1"/>
          </p:cNvSpPr>
          <p:nvPr/>
        </p:nvSpPr>
        <p:spPr>
          <a:xfrm>
            <a:off x="703259" y="3028949"/>
            <a:ext cx="1485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78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s-ES_tradnl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Excel con token OD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9AE388B-EFE3-431F-8EAB-4C054CCA3E0E}"/>
              </a:ext>
            </a:extLst>
          </p:cNvPr>
          <p:cNvSpPr>
            <a:spLocks noGrp="1"/>
          </p:cNvSpPr>
          <p:nvPr/>
        </p:nvSpPr>
        <p:spPr>
          <a:xfrm>
            <a:off x="703259" y="3429000"/>
            <a:ext cx="400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00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Lee columnas fijas: </a:t>
            </a:r>
            <a:r>
              <a:rPr lang="es-ES_tradnl" sz="1200" b="0" dirty="0" err="1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Ship</a:t>
            </a:r>
            <a:r>
              <a:rPr lang="es-ES_tradnl" sz="1200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s-ES_tradnl" sz="1200" b="0" dirty="0" err="1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Order</a:t>
            </a:r>
            <a:r>
              <a:rPr lang="es-ES_tradnl" sz="1200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, WO, Style, Color/Equipo, Talla, Piezas, Apellido y Numero.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2ABA596-C883-4ABE-9EDD-B3233CF1B869}"/>
              </a:ext>
            </a:extLst>
          </p:cNvPr>
          <p:cNvSpPr>
            <a:spLocks noGrp="1"/>
          </p:cNvSpPr>
          <p:nvPr/>
        </p:nvSpPr>
        <p:spPr>
          <a:xfrm>
            <a:off x="703258" y="4267199"/>
            <a:ext cx="2017709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200" b="0" dirty="0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Consolida por </a:t>
            </a:r>
            <a:r>
              <a:rPr lang="es-ES_tradnl" sz="1200" b="0" dirty="0" err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Ship</a:t>
            </a:r>
            <a:r>
              <a:rPr lang="es-ES_tradnl" sz="1200" b="0" dirty="0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s-ES_tradnl" sz="1200" b="0" dirty="0" err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Order</a:t>
            </a:r>
            <a:r>
              <a:rPr lang="es-ES_tradnl" sz="1200" b="0" dirty="0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 + WO + Style + Equipo y combina tallas antes del filtro.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4E50B12D-267A-4B84-9FD1-5FF57D6752FE}"/>
              </a:ext>
            </a:extLst>
          </p:cNvPr>
          <p:cNvSpPr>
            <a:spLocks noGrp="1"/>
          </p:cNvSpPr>
          <p:nvPr/>
        </p:nvSpPr>
        <p:spPr>
          <a:xfrm>
            <a:off x="6324600" y="2143124"/>
            <a:ext cx="5448300" cy="3286125"/>
          </a:xfrm>
          <a:prstGeom prst="roundRect">
            <a:avLst>
              <a:gd name="adj" fmla="val 1818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190FFF8-0DF4-4703-BD97-FB1102B9F838}"/>
              </a:ext>
            </a:extLst>
          </p:cNvPr>
          <p:cNvSpPr>
            <a:spLocks noGrp="1"/>
          </p:cNvSpPr>
          <p:nvPr/>
        </p:nvSpPr>
        <p:spPr>
          <a:xfrm>
            <a:off x="6324600" y="2138219"/>
            <a:ext cx="5448300" cy="76200"/>
          </a:xfrm>
          <a:prstGeom prst="rect">
            <a:avLst/>
          </a:prstGeom>
          <a:solidFill>
            <a:srgbClr val="2D7FF9"/>
          </a:solidFill>
          <a:ln w="0">
            <a:solidFill>
              <a:srgbClr val="2D7FF9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5C90D68-E25F-41BD-B47C-E7E143FE0006}"/>
              </a:ext>
            </a:extLst>
          </p:cNvPr>
          <p:cNvSpPr>
            <a:spLocks noGrp="1"/>
          </p:cNvSpPr>
          <p:nvPr/>
        </p:nvSpPr>
        <p:spPr>
          <a:xfrm>
            <a:off x="6591300" y="251979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2025" b="1" dirty="0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Genéricas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576A0538-0B8D-4995-BC4E-B439C9986615}"/>
              </a:ext>
            </a:extLst>
          </p:cNvPr>
          <p:cNvSpPr>
            <a:spLocks noGrp="1"/>
          </p:cNvSpPr>
          <p:nvPr/>
        </p:nvSpPr>
        <p:spPr>
          <a:xfrm>
            <a:off x="6591300" y="3015095"/>
            <a:ext cx="2209800" cy="266700"/>
          </a:xfrm>
          <a:prstGeom prst="roundRect">
            <a:avLst>
              <a:gd name="adj" fmla="val 42857"/>
            </a:avLst>
          </a:prstGeom>
          <a:solidFill>
            <a:srgbClr val="2D7FF9"/>
          </a:solidFill>
          <a:ln w="9525">
            <a:solidFill>
              <a:srgbClr val="2D7FF9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EAAE713-17C4-4400-B987-C3F477225F2A}"/>
              </a:ext>
            </a:extLst>
          </p:cNvPr>
          <p:cNvSpPr>
            <a:spLocks noGrp="1"/>
          </p:cNvSpPr>
          <p:nvPr/>
        </p:nvSpPr>
        <p:spPr>
          <a:xfrm>
            <a:off x="6591300" y="3072245"/>
            <a:ext cx="2209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78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s-ES_tradnl" sz="78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 / IH / TB / AS / SS / JR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70C4EA2-0296-4A94-9802-9BA79CEE1E02}"/>
              </a:ext>
            </a:extLst>
          </p:cNvPr>
          <p:cNvSpPr>
            <a:spLocks noGrp="1"/>
          </p:cNvSpPr>
          <p:nvPr/>
        </p:nvSpPr>
        <p:spPr>
          <a:xfrm>
            <a:off x="6591300" y="3500870"/>
            <a:ext cx="400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00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Busca encabezados WO, Style, Roster, cantidad, equipo y </a:t>
            </a:r>
            <a:r>
              <a:rPr lang="es-ES_tradnl" sz="1200" b="0" dirty="0" err="1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Emb</a:t>
            </a:r>
            <a:r>
              <a:rPr lang="es-ES_tradnl" sz="1200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dentro de las primeras filas.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41C7435-B086-4434-9023-8933A3915DF3}"/>
              </a:ext>
            </a:extLst>
          </p:cNvPr>
          <p:cNvSpPr>
            <a:spLocks noGrp="1"/>
          </p:cNvSpPr>
          <p:nvPr/>
        </p:nvSpPr>
        <p:spPr>
          <a:xfrm>
            <a:off x="6511574" y="4311071"/>
            <a:ext cx="269745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200" b="0" dirty="0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La clave usa WO + Roster + Style + Equipo; no usa apellido ni numero.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E13D390-2B8C-4126-AD6E-C625EA898EDA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675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675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RMC Control System | RMC MockupTool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05D9FF1-E680-44E4-ACF6-E256888881A7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750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02CD74F-9B8D-345B-3637-211F8F35C535}"/>
              </a:ext>
            </a:extLst>
          </p:cNvPr>
          <p:cNvSpPr>
            <a:spLocks noGrp="1"/>
          </p:cNvSpPr>
          <p:nvPr/>
        </p:nvSpPr>
        <p:spPr>
          <a:xfrm>
            <a:off x="833437" y="-138112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975" b="1">
                <a:solidFill>
                  <a:srgbClr val="AEB4BF"/>
                </a:solidFill>
              </a:rPr>
              <a:t>PROBLEMA OPERATIVO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3EB1063-C4AD-CAC8-509A-8435B7236263}"/>
              </a:ext>
            </a:extLst>
          </p:cNvPr>
          <p:cNvSpPr>
            <a:spLocks noGrp="1"/>
          </p:cNvSpPr>
          <p:nvPr/>
        </p:nvSpPr>
        <p:spPr>
          <a:xfrm>
            <a:off x="833436" y="-1133475"/>
            <a:ext cx="9791123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sz="2700" b="1">
                <a:solidFill>
                  <a:schemeClr val="bg1"/>
                </a:solidFill>
              </a:rPr>
              <a:t>Sin mockup trazable, revisar se vuelve una cadena manual.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075E4E3-91C3-F630-9E80-87092CB1EB2A}"/>
              </a:ext>
            </a:extLst>
          </p:cNvPr>
          <p:cNvSpPr>
            <a:spLocks noGrp="1"/>
          </p:cNvSpPr>
          <p:nvPr/>
        </p:nvSpPr>
        <p:spPr>
          <a:xfrm>
            <a:off x="833435" y="-571500"/>
            <a:ext cx="92447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350">
                <a:solidFill>
                  <a:srgbClr val="AEB4BF"/>
                </a:solidFill>
              </a:rPr>
              <a:t>El operador debe unir Excel, equipo, style, plantilla base, carpeta de salida y estado de impresión sin una evidencia visual única.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3AE8AE7F-AB5D-F3FB-9CE7-0E21287FD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4173245"/>
            <a:ext cx="2259602" cy="797507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02ABEA17-1DF9-0F79-A8E7-BBE7BFB98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9030" y="4205044"/>
            <a:ext cx="2230012" cy="87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2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ángulo 44">
            <a:extLst>
              <a:ext uri="{FF2B5EF4-FFF2-40B4-BE49-F238E27FC236}">
                <a16:creationId xmlns:a16="http://schemas.microsoft.com/office/drawing/2014/main" id="{C00DCB57-680E-4A32-A781-B6DB64AC469E}"/>
              </a:ext>
            </a:extLst>
          </p:cNvPr>
          <p:cNvSpPr>
            <a:spLocks noGrp="1"/>
          </p:cNvSpPr>
          <p:nvPr/>
        </p:nvSpPr>
        <p:spPr>
          <a:xfrm>
            <a:off x="533400" y="383021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975" b="1" dirty="0">
                <a:solidFill>
                  <a:srgbClr val="AEB4BF"/>
                </a:solidFill>
              </a:rPr>
              <a:t>VALIDACION INCREMENTAL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F7EE367-ED5E-4BFA-B1F9-463AA7301410}"/>
              </a:ext>
            </a:extLst>
          </p:cNvPr>
          <p:cNvSpPr>
            <a:spLocks noGrp="1"/>
          </p:cNvSpPr>
          <p:nvPr/>
        </p:nvSpPr>
        <p:spPr>
          <a:xfrm>
            <a:off x="533400" y="630671"/>
            <a:ext cx="10363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sz="2700" b="1" dirty="0">
                <a:solidFill>
                  <a:schemeClr val="bg1"/>
                </a:solidFill>
              </a:rPr>
              <a:t>Validar convierte cada pedido en un estado accionable.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D8E55D6-9DEB-4923-9BAA-2506AE83DA5D}"/>
              </a:ext>
            </a:extLst>
          </p:cNvPr>
          <p:cNvSpPr>
            <a:spLocks noGrp="1"/>
          </p:cNvSpPr>
          <p:nvPr/>
        </p:nvSpPr>
        <p:spPr>
          <a:xfrm>
            <a:off x="552450" y="1125970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350">
                <a:solidFill>
                  <a:srgbClr val="AEB4BF"/>
                </a:solidFill>
              </a:rPr>
              <a:t>La herramienta compara el archivo esperado y la clave SQLite antes de decidir si algo puede generarse.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0933924-3C18-42D7-9AC0-D82754EA0411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514350" cy="381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AF45404E-E852-4F8C-8E6C-552DB4E1F689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7048500" cy="3448050"/>
          </a:xfrm>
          <a:prstGeom prst="roundRect">
            <a:avLst>
              <a:gd name="adj" fmla="val 2210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BF78039-6225-45BD-960F-6D63FC6AE4D1}"/>
              </a:ext>
            </a:extLst>
          </p:cNvPr>
          <p:cNvSpPr>
            <a:spLocks noGrp="1"/>
          </p:cNvSpPr>
          <p:nvPr/>
        </p:nvSpPr>
        <p:spPr>
          <a:xfrm>
            <a:off x="990600" y="2371725"/>
            <a:ext cx="95250" cy="438150"/>
          </a:xfrm>
          <a:prstGeom prst="rect">
            <a:avLst/>
          </a:prstGeom>
          <a:solidFill>
            <a:srgbClr val="20B26B"/>
          </a:solidFill>
          <a:ln w="0">
            <a:solidFill>
              <a:srgbClr val="20B26B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4F070B9-8E7F-4ECE-8F63-1279CBF13611}"/>
              </a:ext>
            </a:extLst>
          </p:cNvPr>
          <p:cNvSpPr>
            <a:spLocks noGrp="1"/>
          </p:cNvSpPr>
          <p:nvPr/>
        </p:nvSpPr>
        <p:spPr>
          <a:xfrm>
            <a:off x="1238250" y="23431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0B26B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1">
                <a:solidFill>
                  <a:srgbClr val="20B26B"/>
                </a:solidFill>
                <a:latin typeface="Calibri"/>
                <a:ea typeface="Calibri"/>
                <a:cs typeface="Calibri"/>
              </a:rPr>
              <a:t>FALTANTE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711745A-5C4F-4EB6-8CD2-17FB2031F992}"/>
              </a:ext>
            </a:extLst>
          </p:cNvPr>
          <p:cNvSpPr>
            <a:spLocks noGrp="1"/>
          </p:cNvSpPr>
          <p:nvPr/>
        </p:nvSpPr>
        <p:spPr>
          <a:xfrm>
            <a:off x="3333750" y="23431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200" b="0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No existe archivo ni clave.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8F85D95-0AD5-4E3F-97F0-11BA524D1E7F}"/>
              </a:ext>
            </a:extLst>
          </p:cNvPr>
          <p:cNvSpPr>
            <a:spLocks noGrp="1"/>
          </p:cNvSpPr>
          <p:nvPr/>
        </p:nvSpPr>
        <p:spPr>
          <a:xfrm>
            <a:off x="5905500" y="2343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>
                <a:solidFill>
                  <a:srgbClr val="AEB4BF"/>
                </a:solidFill>
              </a:rPr>
              <a:t>Puede generarse.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5D2408D-7285-4701-AED7-C2B6A3702623}"/>
              </a:ext>
            </a:extLst>
          </p:cNvPr>
          <p:cNvSpPr>
            <a:spLocks noGrp="1"/>
          </p:cNvSpPr>
          <p:nvPr/>
        </p:nvSpPr>
        <p:spPr>
          <a:xfrm>
            <a:off x="990600" y="2886075"/>
            <a:ext cx="6286500" cy="9525"/>
          </a:xfrm>
          <a:prstGeom prst="rect">
            <a:avLst/>
          </a:prstGeom>
          <a:solidFill>
            <a:srgbClr val="3A3F47"/>
          </a:solidFill>
          <a:ln w="0">
            <a:solidFill>
              <a:srgbClr val="3A3F47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D832131-23A7-42AD-90CE-677D197281D6}"/>
              </a:ext>
            </a:extLst>
          </p:cNvPr>
          <p:cNvSpPr>
            <a:spLocks noGrp="1"/>
          </p:cNvSpPr>
          <p:nvPr/>
        </p:nvSpPr>
        <p:spPr>
          <a:xfrm>
            <a:off x="990600" y="2962275"/>
            <a:ext cx="95250" cy="438150"/>
          </a:xfrm>
          <a:prstGeom prst="rect">
            <a:avLst/>
          </a:prstGeom>
          <a:solidFill>
            <a:srgbClr val="7D8592"/>
          </a:solidFill>
          <a:ln w="0">
            <a:solidFill>
              <a:srgbClr val="7D8592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178333A-5A8B-402C-A0F3-D6C1655C3E43}"/>
              </a:ext>
            </a:extLst>
          </p:cNvPr>
          <p:cNvSpPr>
            <a:spLocks noGrp="1"/>
          </p:cNvSpPr>
          <p:nvPr/>
        </p:nvSpPr>
        <p:spPr>
          <a:xfrm>
            <a:off x="1238250" y="293370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YA_CREADO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B26FE0F-C79F-45AD-B669-01BCDA14013B}"/>
              </a:ext>
            </a:extLst>
          </p:cNvPr>
          <p:cNvSpPr>
            <a:spLocks noGrp="1"/>
          </p:cNvSpPr>
          <p:nvPr/>
        </p:nvSpPr>
        <p:spPr>
          <a:xfrm>
            <a:off x="3333750" y="29337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</a:pPr>
            <a:r>
              <a:rPr lang="es-ES_tradnl" sz="1200">
                <a:solidFill>
                  <a:srgbClr val="F3F4F6"/>
                </a:solidFill>
                <a:latin typeface="Calibri"/>
                <a:cs typeface="Calibri"/>
              </a:rPr>
              <a:t>Existe archivo y clave.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61DE479-6153-4324-B312-9D0590EA6A1D}"/>
              </a:ext>
            </a:extLst>
          </p:cNvPr>
          <p:cNvSpPr>
            <a:spLocks noGrp="1"/>
          </p:cNvSpPr>
          <p:nvPr/>
        </p:nvSpPr>
        <p:spPr>
          <a:xfrm>
            <a:off x="5905500" y="2933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>
                <a:solidFill>
                  <a:srgbClr val="AEB4BF"/>
                </a:solidFill>
              </a:rPr>
              <a:t>Se omite.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0B3E1F8-C2B1-4EE2-AA2F-56C03AB4C8FC}"/>
              </a:ext>
            </a:extLst>
          </p:cNvPr>
          <p:cNvSpPr>
            <a:spLocks noGrp="1"/>
          </p:cNvSpPr>
          <p:nvPr/>
        </p:nvSpPr>
        <p:spPr>
          <a:xfrm>
            <a:off x="990600" y="3476625"/>
            <a:ext cx="6286500" cy="9525"/>
          </a:xfrm>
          <a:prstGeom prst="rect">
            <a:avLst/>
          </a:prstGeom>
          <a:solidFill>
            <a:srgbClr val="3A3F47"/>
          </a:solidFill>
          <a:ln w="0">
            <a:solidFill>
              <a:srgbClr val="3A3F47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2CA3DCA-7838-4F79-AF97-1CBA3FD05F79}"/>
              </a:ext>
            </a:extLst>
          </p:cNvPr>
          <p:cNvSpPr>
            <a:spLocks noGrp="1"/>
          </p:cNvSpPr>
          <p:nvPr/>
        </p:nvSpPr>
        <p:spPr>
          <a:xfrm>
            <a:off x="990600" y="3552825"/>
            <a:ext cx="95250" cy="438150"/>
          </a:xfrm>
          <a:prstGeom prst="rect">
            <a:avLst/>
          </a:prstGeom>
          <a:solidFill>
            <a:srgbClr val="F3C747"/>
          </a:solidFill>
          <a:ln w="0">
            <a:solidFill>
              <a:srgbClr val="F3C747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6A678B-5111-4BD5-BEFC-D6CB4A69BF4B}"/>
              </a:ext>
            </a:extLst>
          </p:cNvPr>
          <p:cNvSpPr>
            <a:spLocks noGrp="1"/>
          </p:cNvSpPr>
          <p:nvPr/>
        </p:nvSpPr>
        <p:spPr>
          <a:xfrm>
            <a:off x="1238250" y="35242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C747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1">
                <a:solidFill>
                  <a:srgbClr val="F3C747"/>
                </a:solidFill>
                <a:latin typeface="Calibri"/>
                <a:ea typeface="Calibri"/>
                <a:cs typeface="Calibri"/>
              </a:rPr>
              <a:t>ARCHIVO_SIN_REGISTRO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C13D450-2674-427E-8736-2AF260C09EFE}"/>
              </a:ext>
            </a:extLst>
          </p:cNvPr>
          <p:cNvSpPr>
            <a:spLocks noGrp="1"/>
          </p:cNvSpPr>
          <p:nvPr/>
        </p:nvSpPr>
        <p:spPr>
          <a:xfrm>
            <a:off x="3333750" y="35242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</a:pPr>
            <a:r>
              <a:rPr lang="es-ES_tradnl" sz="1200">
                <a:solidFill>
                  <a:srgbClr val="F3F4F6"/>
                </a:solidFill>
                <a:latin typeface="Calibri"/>
                <a:cs typeface="Calibri"/>
              </a:rPr>
              <a:t>Existe PDF, falta SQLite.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F439E00-3694-47BE-99C6-4ED933F0E21D}"/>
              </a:ext>
            </a:extLst>
          </p:cNvPr>
          <p:cNvSpPr>
            <a:spLocks noGrp="1"/>
          </p:cNvSpPr>
          <p:nvPr/>
        </p:nvSpPr>
        <p:spPr>
          <a:xfrm>
            <a:off x="5905500" y="35242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>
                <a:solidFill>
                  <a:srgbClr val="AEB4BF"/>
                </a:solidFill>
              </a:rPr>
              <a:t>Revisión/backfill.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E0CE7C8-8E47-441D-A800-876AF554A1EA}"/>
              </a:ext>
            </a:extLst>
          </p:cNvPr>
          <p:cNvSpPr>
            <a:spLocks noGrp="1"/>
          </p:cNvSpPr>
          <p:nvPr/>
        </p:nvSpPr>
        <p:spPr>
          <a:xfrm>
            <a:off x="990600" y="4067175"/>
            <a:ext cx="6286500" cy="9525"/>
          </a:xfrm>
          <a:prstGeom prst="rect">
            <a:avLst/>
          </a:prstGeom>
          <a:solidFill>
            <a:srgbClr val="3A3F47"/>
          </a:solidFill>
          <a:ln w="0">
            <a:solidFill>
              <a:srgbClr val="3A3F47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33986A3-18A6-4C04-BF48-49059CFDC9FB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95250" cy="438150"/>
          </a:xfrm>
          <a:prstGeom prst="rect">
            <a:avLst/>
          </a:prstGeom>
          <a:solidFill>
            <a:srgbClr val="F28C28"/>
          </a:solidFill>
          <a:ln w="0">
            <a:solidFill>
              <a:srgbClr val="F28C28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0833749-DC89-42E7-AA88-922D5B069EF8}"/>
              </a:ext>
            </a:extLst>
          </p:cNvPr>
          <p:cNvSpPr>
            <a:spLocks noGrp="1"/>
          </p:cNvSpPr>
          <p:nvPr/>
        </p:nvSpPr>
        <p:spPr>
          <a:xfrm>
            <a:off x="1238250" y="411480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28C28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1">
                <a:solidFill>
                  <a:srgbClr val="F28C28"/>
                </a:solidFill>
                <a:latin typeface="Calibri"/>
                <a:ea typeface="Calibri"/>
                <a:cs typeface="Calibri"/>
              </a:rPr>
              <a:t>REGISTRADO_SIN_ARCHIVO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6CA9D49-1F82-48B1-88FC-7F8CDBD47CF8}"/>
              </a:ext>
            </a:extLst>
          </p:cNvPr>
          <p:cNvSpPr>
            <a:spLocks noGrp="1"/>
          </p:cNvSpPr>
          <p:nvPr/>
        </p:nvSpPr>
        <p:spPr>
          <a:xfrm>
            <a:off x="3333750" y="4114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</a:pPr>
            <a:r>
              <a:rPr lang="es-ES_tradnl" sz="1200">
                <a:solidFill>
                  <a:srgbClr val="F3F4F6"/>
                </a:solidFill>
                <a:latin typeface="Calibri"/>
                <a:cs typeface="Calibri"/>
              </a:rPr>
              <a:t>Existe clave, falta PDF.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8599A92-ED64-413D-89AE-915EA5EE2202}"/>
              </a:ext>
            </a:extLst>
          </p:cNvPr>
          <p:cNvSpPr>
            <a:spLocks noGrp="1"/>
          </p:cNvSpPr>
          <p:nvPr/>
        </p:nvSpPr>
        <p:spPr>
          <a:xfrm>
            <a:off x="5905500" y="4114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>
                <a:solidFill>
                  <a:srgbClr val="AEB4BF"/>
                </a:solidFill>
              </a:rPr>
              <a:t>Revisión.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B715AD1-92CA-4CBD-ABA9-DE4D7752D7D2}"/>
              </a:ext>
            </a:extLst>
          </p:cNvPr>
          <p:cNvSpPr>
            <a:spLocks noGrp="1"/>
          </p:cNvSpPr>
          <p:nvPr/>
        </p:nvSpPr>
        <p:spPr>
          <a:xfrm>
            <a:off x="990600" y="4657725"/>
            <a:ext cx="6286500" cy="9525"/>
          </a:xfrm>
          <a:prstGeom prst="rect">
            <a:avLst/>
          </a:prstGeom>
          <a:solidFill>
            <a:srgbClr val="3A3F47"/>
          </a:solidFill>
          <a:ln w="0">
            <a:solidFill>
              <a:srgbClr val="3A3F47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74B9104-D719-46B3-A8EC-8FF969054697}"/>
              </a:ext>
            </a:extLst>
          </p:cNvPr>
          <p:cNvSpPr>
            <a:spLocks noGrp="1"/>
          </p:cNvSpPr>
          <p:nvPr/>
        </p:nvSpPr>
        <p:spPr>
          <a:xfrm>
            <a:off x="990600" y="4733925"/>
            <a:ext cx="95250" cy="43815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E115135-8D07-4024-8EFB-12A025CC6174}"/>
              </a:ext>
            </a:extLst>
          </p:cNvPr>
          <p:cNvSpPr>
            <a:spLocks noGrp="1"/>
          </p:cNvSpPr>
          <p:nvPr/>
        </p:nvSpPr>
        <p:spPr>
          <a:xfrm>
            <a:off x="1238250" y="47053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BD1F36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1">
                <a:solidFill>
                  <a:srgbClr val="BD1F36"/>
                </a:solidFill>
                <a:latin typeface="Calibri"/>
                <a:ea typeface="Calibri"/>
                <a:cs typeface="Calibri"/>
              </a:rPr>
              <a:t>CONFLICTO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725A66D-EAC4-457B-8F14-8252A3AA9F25}"/>
              </a:ext>
            </a:extLst>
          </p:cNvPr>
          <p:cNvSpPr>
            <a:spLocks noGrp="1"/>
          </p:cNvSpPr>
          <p:nvPr/>
        </p:nvSpPr>
        <p:spPr>
          <a:xfrm>
            <a:off x="3333750" y="47053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</a:pPr>
            <a:r>
              <a:rPr lang="es-ES_tradnl" sz="1200">
                <a:solidFill>
                  <a:srgbClr val="F3F4F6"/>
                </a:solidFill>
                <a:latin typeface="Calibri"/>
                <a:cs typeface="Calibri"/>
              </a:rPr>
              <a:t>Duplicado de clave o archivo.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B208C5B-31CA-450E-8D33-2DD89A92A6A3}"/>
              </a:ext>
            </a:extLst>
          </p:cNvPr>
          <p:cNvSpPr>
            <a:spLocks noGrp="1"/>
          </p:cNvSpPr>
          <p:nvPr/>
        </p:nvSpPr>
        <p:spPr>
          <a:xfrm>
            <a:off x="5905500" y="47053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>
                <a:solidFill>
                  <a:srgbClr val="AEB4BF"/>
                </a:solidFill>
              </a:rPr>
              <a:t>Bloquea generar.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43C73F8-D5AF-4691-AB9C-4E0F721AC9E5}"/>
              </a:ext>
            </a:extLst>
          </p:cNvPr>
          <p:cNvSpPr>
            <a:spLocks noGrp="1"/>
          </p:cNvSpPr>
          <p:nvPr/>
        </p:nvSpPr>
        <p:spPr>
          <a:xfrm>
            <a:off x="990600" y="5248275"/>
            <a:ext cx="6286500" cy="9525"/>
          </a:xfrm>
          <a:prstGeom prst="rect">
            <a:avLst/>
          </a:prstGeom>
          <a:solidFill>
            <a:srgbClr val="3A3F47"/>
          </a:solidFill>
          <a:ln w="0">
            <a:solidFill>
              <a:srgbClr val="3A3F47"/>
            </a:solidFill>
            <a:prstDash val="solid"/>
          </a:ln>
        </p:spPr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70A7EC67-B9D1-4D02-93B6-5E22000861D5}"/>
              </a:ext>
            </a:extLst>
          </p:cNvPr>
          <p:cNvSpPr>
            <a:spLocks noGrp="1"/>
          </p:cNvSpPr>
          <p:nvPr/>
        </p:nvSpPr>
        <p:spPr>
          <a:xfrm>
            <a:off x="8448675" y="2049112"/>
            <a:ext cx="2476500" cy="1083375"/>
          </a:xfrm>
          <a:prstGeom prst="roundRect">
            <a:avLst>
              <a:gd name="adj" fmla="val 8511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EB7C3AC-7C28-4287-9225-8699EE7E4C68}"/>
              </a:ext>
            </a:extLst>
          </p:cNvPr>
          <p:cNvSpPr>
            <a:spLocks noGrp="1"/>
          </p:cNvSpPr>
          <p:nvPr/>
        </p:nvSpPr>
        <p:spPr>
          <a:xfrm>
            <a:off x="8448675" y="2049112"/>
            <a:ext cx="104198" cy="1083374"/>
          </a:xfrm>
          <a:prstGeom prst="rect">
            <a:avLst/>
          </a:prstGeom>
          <a:solidFill>
            <a:srgbClr val="2D7FF9"/>
          </a:solidFill>
          <a:ln w="0">
            <a:solidFill>
              <a:srgbClr val="2D7FF9"/>
            </a:solidFill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3A8C18E-CCC1-4E7A-BC65-417C170156FD}"/>
              </a:ext>
            </a:extLst>
          </p:cNvPr>
          <p:cNvSpPr>
            <a:spLocks noGrp="1"/>
          </p:cNvSpPr>
          <p:nvPr/>
        </p:nvSpPr>
        <p:spPr>
          <a:xfrm>
            <a:off x="8620125" y="2101563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Impresión aparte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E313655-29C2-4CA5-B39E-3FC2CC6FC711}"/>
              </a:ext>
            </a:extLst>
          </p:cNvPr>
          <p:cNvSpPr>
            <a:spLocks noGrp="1"/>
          </p:cNvSpPr>
          <p:nvPr/>
        </p:nvSpPr>
        <p:spPr>
          <a:xfrm>
            <a:off x="8620125" y="2406363"/>
            <a:ext cx="2152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>
                <a:solidFill>
                  <a:srgbClr val="AEB4BF"/>
                </a:solidFill>
              </a:rPr>
              <a:t>`impreso` no convierte un PDF en faltante ni fuerza regeneración.</a:t>
            </a:r>
          </a:p>
        </p:txBody>
      </p:sp>
      <p:sp>
        <p:nvSpPr>
          <p:cNvPr id="35" name="Rectángulo redondeado 34">
            <a:extLst>
              <a:ext uri="{FF2B5EF4-FFF2-40B4-BE49-F238E27FC236}">
                <a16:creationId xmlns:a16="http://schemas.microsoft.com/office/drawing/2014/main" id="{483E7C36-4962-40D4-B862-B5161F647638}"/>
              </a:ext>
            </a:extLst>
          </p:cNvPr>
          <p:cNvSpPr>
            <a:spLocks noGrp="1"/>
          </p:cNvSpPr>
          <p:nvPr/>
        </p:nvSpPr>
        <p:spPr>
          <a:xfrm>
            <a:off x="8448675" y="3325462"/>
            <a:ext cx="2476500" cy="1083375"/>
          </a:xfrm>
          <a:prstGeom prst="roundRect">
            <a:avLst>
              <a:gd name="adj" fmla="val 8511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2F0CE59-17BF-4BEF-8391-98ECE8DB98B2}"/>
              </a:ext>
            </a:extLst>
          </p:cNvPr>
          <p:cNvSpPr>
            <a:spLocks noGrp="1"/>
          </p:cNvSpPr>
          <p:nvPr/>
        </p:nvSpPr>
        <p:spPr>
          <a:xfrm>
            <a:off x="8448675" y="3325462"/>
            <a:ext cx="104198" cy="1083374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4FE612F-8A83-4FB8-A03C-8006707353C6}"/>
              </a:ext>
            </a:extLst>
          </p:cNvPr>
          <p:cNvSpPr>
            <a:spLocks noGrp="1"/>
          </p:cNvSpPr>
          <p:nvPr/>
        </p:nvSpPr>
        <p:spPr>
          <a:xfrm>
            <a:off x="8620125" y="3377913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>
                <a:solidFill>
                  <a:schemeClr val="bg1"/>
                </a:solidFill>
              </a:rPr>
              <a:t>Regla critica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6712D688-FC42-46D2-A539-BB2D33E40263}"/>
              </a:ext>
            </a:extLst>
          </p:cNvPr>
          <p:cNvSpPr>
            <a:spLocks noGrp="1"/>
          </p:cNvSpPr>
          <p:nvPr/>
        </p:nvSpPr>
        <p:spPr>
          <a:xfrm>
            <a:off x="8620125" y="3682713"/>
            <a:ext cx="2152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>
                <a:solidFill>
                  <a:srgbClr val="AEB4BF"/>
                </a:solidFill>
              </a:rPr>
              <a:t>Si hay conflicto, no se genera nada hasta resolverlo.</a:t>
            </a:r>
          </a:p>
        </p:txBody>
      </p: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52B4E9E6-7A35-408C-BF8B-CCA45B019D19}"/>
              </a:ext>
            </a:extLst>
          </p:cNvPr>
          <p:cNvSpPr>
            <a:spLocks noGrp="1"/>
          </p:cNvSpPr>
          <p:nvPr/>
        </p:nvSpPr>
        <p:spPr>
          <a:xfrm>
            <a:off x="8448675" y="4601812"/>
            <a:ext cx="2476500" cy="1083375"/>
          </a:xfrm>
          <a:prstGeom prst="roundRect">
            <a:avLst>
              <a:gd name="adj" fmla="val 8511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F61361F8-5F5A-446F-949F-B39065380813}"/>
              </a:ext>
            </a:extLst>
          </p:cNvPr>
          <p:cNvSpPr>
            <a:spLocks noGrp="1"/>
          </p:cNvSpPr>
          <p:nvPr/>
        </p:nvSpPr>
        <p:spPr>
          <a:xfrm>
            <a:off x="8448675" y="4601812"/>
            <a:ext cx="104198" cy="1083374"/>
          </a:xfrm>
          <a:prstGeom prst="rect">
            <a:avLst/>
          </a:prstGeom>
          <a:solidFill>
            <a:srgbClr val="20B26B"/>
          </a:solidFill>
          <a:ln w="0">
            <a:solidFill>
              <a:srgbClr val="20B26B"/>
            </a:solidFill>
            <a:prstDash val="solid"/>
          </a:ln>
        </p:spPr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9275A92-2529-4AF4-AE43-AEF2C4CD5854}"/>
              </a:ext>
            </a:extLst>
          </p:cNvPr>
          <p:cNvSpPr>
            <a:spLocks noGrp="1"/>
          </p:cNvSpPr>
          <p:nvPr/>
        </p:nvSpPr>
        <p:spPr>
          <a:xfrm>
            <a:off x="8620125" y="4654263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>
                <a:solidFill>
                  <a:schemeClr val="bg1"/>
                </a:solidFill>
              </a:rPr>
              <a:t>Resultado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D8BFB5F9-6FE0-4BDA-9EDA-D998772E1A66}"/>
              </a:ext>
            </a:extLst>
          </p:cNvPr>
          <p:cNvSpPr>
            <a:spLocks noGrp="1"/>
          </p:cNvSpPr>
          <p:nvPr/>
        </p:nvSpPr>
        <p:spPr>
          <a:xfrm>
            <a:off x="8620125" y="4959063"/>
            <a:ext cx="2152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>
                <a:solidFill>
                  <a:srgbClr val="AEB4BF"/>
                </a:solidFill>
              </a:rPr>
              <a:t>El operador ve conteos, warnings, BD y log antes de continuar.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850B4F9-0C4A-4A86-A9E0-582875FB77F7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675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675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RMC Control System | RMC MockupTool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7A8EC983-D212-495C-9DD1-C5D9EEABFF15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750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1244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FD8A2B40-40F0-4FA6-9087-4E58949CA8A8}"/>
              </a:ext>
            </a:extLst>
          </p:cNvPr>
          <p:cNvSpPr>
            <a:spLocks noGrp="1"/>
          </p:cNvSpPr>
          <p:nvPr/>
        </p:nvSpPr>
        <p:spPr>
          <a:xfrm>
            <a:off x="533400" y="3556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975" b="1" dirty="0">
                <a:solidFill>
                  <a:srgbClr val="AEB4BF"/>
                </a:solidFill>
              </a:rPr>
              <a:t>PDF ANOTADO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2D523E9-E28A-4AC0-A360-C2D198F4CADA}"/>
              </a:ext>
            </a:extLst>
          </p:cNvPr>
          <p:cNvSpPr>
            <a:spLocks noGrp="1"/>
          </p:cNvSpPr>
          <p:nvPr/>
        </p:nvSpPr>
        <p:spPr>
          <a:xfrm>
            <a:off x="533400" y="522186"/>
            <a:ext cx="9677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sz="2700" b="1" dirty="0">
                <a:solidFill>
                  <a:schemeClr val="bg1"/>
                </a:solidFill>
              </a:rPr>
              <a:t>El mockup es evidencia visual, no el arte final de producción.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F8D3BD4-03A4-4D13-83EF-508C39A6004D}"/>
              </a:ext>
            </a:extLst>
          </p:cNvPr>
          <p:cNvSpPr>
            <a:spLocks noGrp="1"/>
          </p:cNvSpPr>
          <p:nvPr/>
        </p:nvSpPr>
        <p:spPr>
          <a:xfrm>
            <a:off x="533400" y="997484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350" dirty="0">
                <a:solidFill>
                  <a:srgbClr val="AEB4BF"/>
                </a:solidFill>
              </a:rPr>
              <a:t>El PDF se anota con datos operativos para revisión, validación, consulta e impresión controlada.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7AD62B7-61C0-46B1-A3D1-4457C62F5EDD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514350" cy="381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BB49D68-596A-4D94-9125-402E7F1815A6}"/>
              </a:ext>
            </a:extLst>
          </p:cNvPr>
          <p:cNvSpPr>
            <a:spLocks noGrp="1"/>
          </p:cNvSpPr>
          <p:nvPr/>
        </p:nvSpPr>
        <p:spPr>
          <a:xfrm>
            <a:off x="1267403" y="1697470"/>
            <a:ext cx="5371522" cy="12931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8B0FD165-97AE-4B76-BAA0-1686497DA43A}"/>
              </a:ext>
            </a:extLst>
          </p:cNvPr>
          <p:cNvSpPr>
            <a:spLocks noGrp="1"/>
          </p:cNvSpPr>
          <p:nvPr/>
        </p:nvSpPr>
        <p:spPr>
          <a:xfrm>
            <a:off x="7524750" y="1910239"/>
            <a:ext cx="2857500" cy="1037273"/>
          </a:xfrm>
          <a:prstGeom prst="roundRect">
            <a:avLst>
              <a:gd name="adj" fmla="val 8889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16AB7C3-9EC2-4248-8826-2DEBC7DE025B}"/>
              </a:ext>
            </a:extLst>
          </p:cNvPr>
          <p:cNvSpPr>
            <a:spLocks noGrp="1"/>
          </p:cNvSpPr>
          <p:nvPr/>
        </p:nvSpPr>
        <p:spPr>
          <a:xfrm>
            <a:off x="7524750" y="1910239"/>
            <a:ext cx="105641" cy="1037273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8CAAA1A-9AD4-42DC-A1F2-9E90B8F6D69F}"/>
              </a:ext>
            </a:extLst>
          </p:cNvPr>
          <p:cNvSpPr>
            <a:spLocks noGrp="1"/>
          </p:cNvSpPr>
          <p:nvPr/>
        </p:nvSpPr>
        <p:spPr>
          <a:xfrm>
            <a:off x="7696200" y="201411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Personalizadas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B8596E4-B69A-48B8-99BE-F8C41C6D6DFF}"/>
              </a:ext>
            </a:extLst>
          </p:cNvPr>
          <p:cNvSpPr>
            <a:spLocks noGrp="1"/>
          </p:cNvSpPr>
          <p:nvPr/>
        </p:nvSpPr>
        <p:spPr>
          <a:xfrm>
            <a:off x="7696200" y="2318910"/>
            <a:ext cx="2533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Fecha del titulo, WO, Style, piezas, talla y firma.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4969AB20-D6FC-4200-A42C-2E8222030792}"/>
              </a:ext>
            </a:extLst>
          </p:cNvPr>
          <p:cNvSpPr>
            <a:spLocks noGrp="1"/>
          </p:cNvSpPr>
          <p:nvPr/>
        </p:nvSpPr>
        <p:spPr>
          <a:xfrm>
            <a:off x="8096250" y="3148489"/>
            <a:ext cx="2857500" cy="1037273"/>
          </a:xfrm>
          <a:prstGeom prst="roundRect">
            <a:avLst>
              <a:gd name="adj" fmla="val 8889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99EA42F-E6FE-4B5A-80A7-90100D73C719}"/>
              </a:ext>
            </a:extLst>
          </p:cNvPr>
          <p:cNvSpPr>
            <a:spLocks noGrp="1"/>
          </p:cNvSpPr>
          <p:nvPr/>
        </p:nvSpPr>
        <p:spPr>
          <a:xfrm>
            <a:off x="8096250" y="3148489"/>
            <a:ext cx="105641" cy="1037273"/>
          </a:xfrm>
          <a:prstGeom prst="rect">
            <a:avLst/>
          </a:prstGeom>
          <a:solidFill>
            <a:srgbClr val="2D7FF9"/>
          </a:solidFill>
          <a:ln w="0">
            <a:solidFill>
              <a:srgbClr val="2D7FF9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D1D301B-14BA-4D43-85BE-87E307BAA708}"/>
              </a:ext>
            </a:extLst>
          </p:cNvPr>
          <p:cNvSpPr>
            <a:spLocks noGrp="1"/>
          </p:cNvSpPr>
          <p:nvPr/>
        </p:nvSpPr>
        <p:spPr>
          <a:xfrm>
            <a:off x="8267700" y="325236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Genéricas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A1E36B2-F616-4325-8F72-654C3B6F3700}"/>
              </a:ext>
            </a:extLst>
          </p:cNvPr>
          <p:cNvSpPr>
            <a:spLocks noGrp="1"/>
          </p:cNvSpPr>
          <p:nvPr/>
        </p:nvSpPr>
        <p:spPr>
          <a:xfrm>
            <a:off x="8267700" y="3557160"/>
            <a:ext cx="2533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Fecha </a:t>
            </a:r>
            <a:r>
              <a:rPr lang="es-ES_tradnl" sz="1200" dirty="0" err="1">
                <a:solidFill>
                  <a:srgbClr val="AEB4BF"/>
                </a:solidFill>
              </a:rPr>
              <a:t>Emb</a:t>
            </a:r>
            <a:r>
              <a:rPr lang="es-ES_tradnl" sz="1200" dirty="0">
                <a:solidFill>
                  <a:srgbClr val="AEB4BF"/>
                </a:solidFill>
              </a:rPr>
              <a:t>, WO, Roster, Style, piezas y firma.</a:t>
            </a:r>
          </a:p>
        </p:txBody>
      </p: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717696D1-DCF1-4CCD-82E8-38FC7B251289}"/>
              </a:ext>
            </a:extLst>
          </p:cNvPr>
          <p:cNvSpPr>
            <a:spLocks noGrp="1"/>
          </p:cNvSpPr>
          <p:nvPr/>
        </p:nvSpPr>
        <p:spPr>
          <a:xfrm>
            <a:off x="7524750" y="4386739"/>
            <a:ext cx="2857500" cy="1037273"/>
          </a:xfrm>
          <a:prstGeom prst="roundRect">
            <a:avLst>
              <a:gd name="adj" fmla="val 8889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552E4BD-8681-4CCA-90EB-C0217E9A8CDB}"/>
              </a:ext>
            </a:extLst>
          </p:cNvPr>
          <p:cNvSpPr>
            <a:spLocks noGrp="1"/>
          </p:cNvSpPr>
          <p:nvPr/>
        </p:nvSpPr>
        <p:spPr>
          <a:xfrm>
            <a:off x="7524750" y="4386739"/>
            <a:ext cx="105641" cy="1037273"/>
          </a:xfrm>
          <a:prstGeom prst="rect">
            <a:avLst/>
          </a:prstGeom>
          <a:solidFill>
            <a:srgbClr val="F3C747"/>
          </a:solidFill>
          <a:ln w="0">
            <a:solidFill>
              <a:srgbClr val="F3C747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C3DD6AB-E46E-4EA9-AFA2-E2898A73D47D}"/>
              </a:ext>
            </a:extLst>
          </p:cNvPr>
          <p:cNvSpPr>
            <a:spLocks noGrp="1"/>
          </p:cNvSpPr>
          <p:nvPr/>
        </p:nvSpPr>
        <p:spPr>
          <a:xfrm>
            <a:off x="7696200" y="449061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Limite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A36602C-4B46-4724-AC19-3856B3865AFC}"/>
              </a:ext>
            </a:extLst>
          </p:cNvPr>
          <p:cNvSpPr>
            <a:spLocks noGrp="1"/>
          </p:cNvSpPr>
          <p:nvPr/>
        </p:nvSpPr>
        <p:spPr>
          <a:xfrm>
            <a:off x="7696200" y="4795410"/>
            <a:ext cx="2533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Solo anota mockups base PDF; JPG requiere conversión o flujo adicional.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85D4536-627E-44BE-8AAF-5072EE4376D1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675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675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RMC Control System | RMC MockupTool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CBF92F1-D4D2-487C-B8A8-C190276B0FEC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750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BF51D358-F240-7046-4722-2A4DF8FE4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402" y="1830820"/>
            <a:ext cx="5371523" cy="40798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1295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34D79A7B-F057-4119-AC35-DC3CB5E8BEEC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975" b="1" dirty="0">
                <a:solidFill>
                  <a:srgbClr val="AEB4BF"/>
                </a:solidFill>
              </a:rPr>
              <a:t>RUTAS Y NOMBRES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BF5580-FACF-405D-85D1-17CB6F37D7F9}"/>
              </a:ext>
            </a:extLst>
          </p:cNvPr>
          <p:cNvSpPr>
            <a:spLocks noGrp="1"/>
          </p:cNvSpPr>
          <p:nvPr/>
        </p:nvSpPr>
        <p:spPr>
          <a:xfrm>
            <a:off x="533400" y="592859"/>
            <a:ext cx="859039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sz="2700" b="1" dirty="0">
                <a:solidFill>
                  <a:schemeClr val="bg1"/>
                </a:solidFill>
              </a:rPr>
              <a:t>La salida queda ordenada para encontrar el PDF después.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88BB0E3-A289-4EF6-ADC2-0DF7504D5866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350" dirty="0">
                <a:solidFill>
                  <a:srgbClr val="AEB4BF"/>
                </a:solidFill>
              </a:rPr>
              <a:t>Personalizadas usa una raíz operativa. Genéricas sale junto al Excel seleccionado, dentro de la sección Genéricas.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B6DCA49-FB77-44E3-BB21-33C082E22E63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514350" cy="381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995B1B88-A86B-450B-B913-C5D662B1A029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048250" cy="2364331"/>
          </a:xfrm>
          <a:prstGeom prst="roundRect">
            <a:avLst>
              <a:gd name="adj" fmla="val 2353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22FF50E-0430-4692-927F-E946CBC998AA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048250" cy="762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7949E5-1E55-47C9-B55D-6D5BE55346B6}"/>
              </a:ext>
            </a:extLst>
          </p:cNvPr>
          <p:cNvSpPr>
            <a:spLocks noGrp="1"/>
          </p:cNvSpPr>
          <p:nvPr/>
        </p:nvSpPr>
        <p:spPr>
          <a:xfrm>
            <a:off x="829252" y="1908001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Personalizadas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2DEAC4-9C1F-4B30-B2F6-B42BACA7E199}"/>
              </a:ext>
            </a:extLst>
          </p:cNvPr>
          <p:cNvSpPr>
            <a:spLocks noGrp="1"/>
          </p:cNvSpPr>
          <p:nvPr/>
        </p:nvSpPr>
        <p:spPr>
          <a:xfrm>
            <a:off x="972127" y="2441401"/>
            <a:ext cx="4095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75" b="0" dirty="0" err="1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raiz</a:t>
            </a: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seleccionada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 /Personalizadas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   /&lt;Nombre con base de Excel&gt;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     /&lt;</a:t>
            </a:r>
            <a:r>
              <a:rPr lang="es-ES_tradnl" sz="1275" b="0" dirty="0" err="1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StyleFamily</a:t>
            </a: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&gt;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       /&lt;Talla&gt;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         &lt;WO&gt; - &lt;Equipo&gt; - &lt;Style&gt; - &lt;Piezas&gt;</a:t>
            </a:r>
            <a:r>
              <a:rPr lang="es-ES_tradnl" sz="1275" b="0" dirty="0" err="1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pz.pdf</a:t>
            </a:r>
            <a:endParaRPr lang="es-ES_tradnl" sz="1275" b="0" dirty="0">
              <a:solidFill>
                <a:srgbClr val="B8BE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8F5C6C9D-75FD-4891-BCD3-A2D4E509DC97}"/>
              </a:ext>
            </a:extLst>
          </p:cNvPr>
          <p:cNvSpPr>
            <a:spLocks noGrp="1"/>
          </p:cNvSpPr>
          <p:nvPr/>
        </p:nvSpPr>
        <p:spPr>
          <a:xfrm>
            <a:off x="6457950" y="1762125"/>
            <a:ext cx="5048250" cy="2364331"/>
          </a:xfrm>
          <a:prstGeom prst="roundRect">
            <a:avLst>
              <a:gd name="adj" fmla="val 1914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5E58925-5578-4C8F-8C3B-588260284ECA}"/>
              </a:ext>
            </a:extLst>
          </p:cNvPr>
          <p:cNvSpPr>
            <a:spLocks noGrp="1"/>
          </p:cNvSpPr>
          <p:nvPr/>
        </p:nvSpPr>
        <p:spPr>
          <a:xfrm>
            <a:off x="6457950" y="1762125"/>
            <a:ext cx="5048250" cy="76200"/>
          </a:xfrm>
          <a:prstGeom prst="rect">
            <a:avLst/>
          </a:prstGeom>
          <a:solidFill>
            <a:srgbClr val="2D7FF9"/>
          </a:solidFill>
          <a:ln w="0">
            <a:solidFill>
              <a:srgbClr val="2D7FF9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88B81D9-411F-45D2-863D-DE9A8DC8697F}"/>
              </a:ext>
            </a:extLst>
          </p:cNvPr>
          <p:cNvSpPr>
            <a:spLocks noGrp="1"/>
          </p:cNvSpPr>
          <p:nvPr/>
        </p:nvSpPr>
        <p:spPr>
          <a:xfrm>
            <a:off x="6696652" y="1908001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Genéricas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891EC81-3AEB-4F97-A848-92968C309169}"/>
              </a:ext>
            </a:extLst>
          </p:cNvPr>
          <p:cNvSpPr>
            <a:spLocks noGrp="1"/>
          </p:cNvSpPr>
          <p:nvPr/>
        </p:nvSpPr>
        <p:spPr>
          <a:xfrm>
            <a:off x="6744277" y="2431006"/>
            <a:ext cx="40957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carpeta donde esta el Excel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 /</a:t>
            </a:r>
            <a:r>
              <a:rPr lang="es-ES_tradnl" sz="1275" b="0" dirty="0" err="1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Genericas</a:t>
            </a:r>
            <a:endParaRPr lang="es-ES_tradnl" sz="1275" b="0" dirty="0">
              <a:solidFill>
                <a:srgbClr val="B8BEC8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   /&lt; Nombre con base de Excel&gt;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     /&lt;</a:t>
            </a:r>
            <a:r>
              <a:rPr lang="es-ES_tradnl" sz="1275" b="0" dirty="0" err="1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StyleFamily</a:t>
            </a: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&gt;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       /&lt;</a:t>
            </a:r>
            <a:r>
              <a:rPr lang="es-ES_tradnl" sz="1275" b="0" dirty="0" err="1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Emb</a:t>
            </a: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&gt;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275" b="0" dirty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          &lt;Roster&gt; - &lt;Equipo&gt; - &lt;Style&gt; - &lt;Piezas&gt;</a:t>
            </a:r>
            <a:r>
              <a:rPr lang="es-ES_tradnl" sz="1275" b="0" dirty="0" err="1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pz.pdf</a:t>
            </a:r>
            <a:endParaRPr lang="es-ES_tradnl" sz="1275" b="0" dirty="0">
              <a:solidFill>
                <a:srgbClr val="B8BE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87FC108-5D9F-4E0F-884B-341C7E66AA9F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675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675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RMC Control System | RMC MockupTool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DA7FE61-F468-406F-881B-84B19FD6806C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750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D6908391-F792-3088-2F95-25BC4D816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645" y="4243216"/>
            <a:ext cx="7772400" cy="21845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C00000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729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54CE218E-CEC7-4F49-AA89-37E59244BCB5}"/>
              </a:ext>
            </a:extLst>
          </p:cNvPr>
          <p:cNvSpPr>
            <a:spLocks noGrp="1"/>
          </p:cNvSpPr>
          <p:nvPr/>
        </p:nvSpPr>
        <p:spPr>
          <a:xfrm>
            <a:off x="533400" y="40138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975" b="1" dirty="0">
                <a:solidFill>
                  <a:srgbClr val="AEB4BF"/>
                </a:solidFill>
              </a:rPr>
              <a:t>IMPRESION CONTROLADA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86979ED-53B7-4F1E-9704-F8007BD7183A}"/>
              </a:ext>
            </a:extLst>
          </p:cNvPr>
          <p:cNvSpPr>
            <a:spLocks noGrp="1"/>
          </p:cNvSpPr>
          <p:nvPr/>
        </p:nvSpPr>
        <p:spPr>
          <a:xfrm>
            <a:off x="533399" y="649035"/>
            <a:ext cx="8941377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sz="2700" b="1" dirty="0">
                <a:solidFill>
                  <a:schemeClr val="bg1"/>
                </a:solidFill>
              </a:rPr>
              <a:t>Revisar cola e imprimir cola no hacen lo mismo.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4B291AD-82E4-45B0-A53D-7C5E1C127C44}"/>
              </a:ext>
            </a:extLst>
          </p:cNvPr>
          <p:cNvSpPr>
            <a:spLocks noGrp="1"/>
          </p:cNvSpPr>
          <p:nvPr/>
        </p:nvSpPr>
        <p:spPr>
          <a:xfrm>
            <a:off x="552450" y="1142933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350" dirty="0">
                <a:solidFill>
                  <a:srgbClr val="AEB4BF"/>
                </a:solidFill>
              </a:rPr>
              <a:t>La cola se recalcula con filtros y estado SQLite; solo se envía lo pendiente y registrable.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BF9ED57-140C-44D7-BF1E-004F8BDFEEC0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514350" cy="381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0F01829-186E-482E-9C0B-3091F6DD55B7}"/>
              </a:ext>
            </a:extLst>
          </p:cNvPr>
          <p:cNvSpPr>
            <a:spLocks noGrp="1"/>
          </p:cNvSpPr>
          <p:nvPr/>
        </p:nvSpPr>
        <p:spPr>
          <a:xfrm>
            <a:off x="933450" y="3162300"/>
            <a:ext cx="3638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200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[INSERTAR CAPTURA: Revisar cola]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6C437AE-B0A7-4D55-BDC1-9E59A4A77DC0}"/>
              </a:ext>
            </a:extLst>
          </p:cNvPr>
          <p:cNvSpPr>
            <a:spLocks noGrp="1"/>
          </p:cNvSpPr>
          <p:nvPr/>
        </p:nvSpPr>
        <p:spPr>
          <a:xfrm>
            <a:off x="1085850" y="3533775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82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825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Lista de PDFs encontrados, faltantes, duplicados y estados.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FFD6986B-1D10-4057-B53D-66ED74F2049D}"/>
              </a:ext>
            </a:extLst>
          </p:cNvPr>
          <p:cNvSpPr>
            <a:spLocks noGrp="1"/>
          </p:cNvSpPr>
          <p:nvPr/>
        </p:nvSpPr>
        <p:spPr>
          <a:xfrm>
            <a:off x="5734050" y="2242185"/>
            <a:ext cx="2190750" cy="963930"/>
          </a:xfrm>
          <a:prstGeom prst="roundRect">
            <a:avLst>
              <a:gd name="adj" fmla="val 8696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B5133F2-C1BC-4CC2-B3B0-8E2E52A9B9A9}"/>
              </a:ext>
            </a:extLst>
          </p:cNvPr>
          <p:cNvSpPr>
            <a:spLocks noGrp="1"/>
          </p:cNvSpPr>
          <p:nvPr/>
        </p:nvSpPr>
        <p:spPr>
          <a:xfrm>
            <a:off x="5734050" y="2242185"/>
            <a:ext cx="47625" cy="963930"/>
          </a:xfrm>
          <a:prstGeom prst="rect">
            <a:avLst/>
          </a:prstGeom>
          <a:solidFill>
            <a:srgbClr val="2D7FF9"/>
          </a:solidFill>
          <a:ln w="0">
            <a:solidFill>
              <a:srgbClr val="2D7FF9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CE9F986-C04D-413F-9220-CB7C8924DF25}"/>
              </a:ext>
            </a:extLst>
          </p:cNvPr>
          <p:cNvSpPr>
            <a:spLocks noGrp="1"/>
          </p:cNvSpPr>
          <p:nvPr/>
        </p:nvSpPr>
        <p:spPr>
          <a:xfrm>
            <a:off x="5905500" y="2327563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Revisar cola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135BA19-70CB-4047-A59B-B8CF589AE40D}"/>
              </a:ext>
            </a:extLst>
          </p:cNvPr>
          <p:cNvSpPr>
            <a:spLocks noGrp="1"/>
          </p:cNvSpPr>
          <p:nvPr/>
        </p:nvSpPr>
        <p:spPr>
          <a:xfrm>
            <a:off x="5905500" y="2632363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No imprime. Solo localiza y ordena </a:t>
            </a:r>
            <a:r>
              <a:rPr lang="es-ES_tradnl" sz="1200" dirty="0" err="1">
                <a:solidFill>
                  <a:srgbClr val="AEB4BF"/>
                </a:solidFill>
              </a:rPr>
              <a:t>PDFs</a:t>
            </a:r>
            <a:r>
              <a:rPr lang="es-ES_tradnl" sz="1200" dirty="0">
                <a:solidFill>
                  <a:srgbClr val="AEB4BF"/>
                </a:solidFill>
              </a:rPr>
              <a:t>.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86FAA7FB-EE7B-4B52-A7B9-091000AA22FB}"/>
              </a:ext>
            </a:extLst>
          </p:cNvPr>
          <p:cNvSpPr>
            <a:spLocks noGrp="1"/>
          </p:cNvSpPr>
          <p:nvPr/>
        </p:nvSpPr>
        <p:spPr>
          <a:xfrm>
            <a:off x="5734050" y="3404235"/>
            <a:ext cx="2190750" cy="963930"/>
          </a:xfrm>
          <a:prstGeom prst="roundRect">
            <a:avLst>
              <a:gd name="adj" fmla="val 8696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8970AD6-514F-450F-9BFE-21482C81D306}"/>
              </a:ext>
            </a:extLst>
          </p:cNvPr>
          <p:cNvSpPr>
            <a:spLocks noGrp="1"/>
          </p:cNvSpPr>
          <p:nvPr/>
        </p:nvSpPr>
        <p:spPr>
          <a:xfrm>
            <a:off x="5734050" y="3404235"/>
            <a:ext cx="47625" cy="963930"/>
          </a:xfrm>
          <a:prstGeom prst="rect">
            <a:avLst/>
          </a:prstGeom>
          <a:solidFill>
            <a:srgbClr val="F3C747"/>
          </a:solidFill>
          <a:ln w="0">
            <a:solidFill>
              <a:srgbClr val="F3C747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92B3F4-BB88-4C90-900A-65017B67C973}"/>
              </a:ext>
            </a:extLst>
          </p:cNvPr>
          <p:cNvSpPr>
            <a:spLocks noGrp="1"/>
          </p:cNvSpPr>
          <p:nvPr/>
        </p:nvSpPr>
        <p:spPr>
          <a:xfrm>
            <a:off x="5905500" y="3489613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Confirmar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B08D61A-F9C1-4C29-9841-66A15A0077EC}"/>
              </a:ext>
            </a:extLst>
          </p:cNvPr>
          <p:cNvSpPr>
            <a:spLocks noGrp="1"/>
          </p:cNvSpPr>
          <p:nvPr/>
        </p:nvSpPr>
        <p:spPr>
          <a:xfrm>
            <a:off x="5905500" y="3794413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Muestra cantidad, </a:t>
            </a:r>
            <a:r>
              <a:rPr lang="es-ES_tradnl" sz="1200" dirty="0" err="1">
                <a:solidFill>
                  <a:srgbClr val="AEB4BF"/>
                </a:solidFill>
              </a:rPr>
              <a:t>warnings</a:t>
            </a:r>
            <a:r>
              <a:rPr lang="es-ES_tradnl" sz="1200" dirty="0">
                <a:solidFill>
                  <a:srgbClr val="AEB4BF"/>
                </a:solidFill>
              </a:rPr>
              <a:t> y pendientes.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B0A6F8DA-28F2-4D10-8F39-C424C459A170}"/>
              </a:ext>
            </a:extLst>
          </p:cNvPr>
          <p:cNvSpPr>
            <a:spLocks noGrp="1"/>
          </p:cNvSpPr>
          <p:nvPr/>
        </p:nvSpPr>
        <p:spPr>
          <a:xfrm>
            <a:off x="5734050" y="4566285"/>
            <a:ext cx="2190750" cy="963930"/>
          </a:xfrm>
          <a:prstGeom prst="roundRect">
            <a:avLst>
              <a:gd name="adj" fmla="val 8696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1F08885-0EAE-4573-97F2-8C06ED02CB48}"/>
              </a:ext>
            </a:extLst>
          </p:cNvPr>
          <p:cNvSpPr>
            <a:spLocks noGrp="1"/>
          </p:cNvSpPr>
          <p:nvPr/>
        </p:nvSpPr>
        <p:spPr>
          <a:xfrm>
            <a:off x="5734050" y="4566285"/>
            <a:ext cx="47625" cy="96393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7E65CFA-6A84-4E09-AEBF-F95CA4938283}"/>
              </a:ext>
            </a:extLst>
          </p:cNvPr>
          <p:cNvSpPr>
            <a:spLocks noGrp="1"/>
          </p:cNvSpPr>
          <p:nvPr/>
        </p:nvSpPr>
        <p:spPr>
          <a:xfrm>
            <a:off x="5905500" y="4651663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Imprimir cola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25EB2ED-8F69-4B4B-B367-439CBC2AC0BD}"/>
              </a:ext>
            </a:extLst>
          </p:cNvPr>
          <p:cNvSpPr>
            <a:spLocks noGrp="1"/>
          </p:cNvSpPr>
          <p:nvPr/>
        </p:nvSpPr>
        <p:spPr>
          <a:xfrm>
            <a:off x="5905500" y="4956463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Ejecuta </a:t>
            </a:r>
            <a:r>
              <a:rPr lang="es-ES_tradnl" sz="1200" dirty="0" err="1">
                <a:solidFill>
                  <a:srgbClr val="AEB4BF"/>
                </a:solidFill>
              </a:rPr>
              <a:t>lp</a:t>
            </a:r>
            <a:r>
              <a:rPr lang="es-ES_tradnl" sz="1200" dirty="0">
                <a:solidFill>
                  <a:srgbClr val="AEB4BF"/>
                </a:solidFill>
              </a:rPr>
              <a:t> con </a:t>
            </a:r>
            <a:r>
              <a:rPr lang="es-ES_tradnl" sz="1200" dirty="0" err="1">
                <a:solidFill>
                  <a:srgbClr val="AEB4BF"/>
                </a:solidFill>
              </a:rPr>
              <a:t>fit</a:t>
            </a:r>
            <a:r>
              <a:rPr lang="es-ES_tradnl" sz="1200" dirty="0">
                <a:solidFill>
                  <a:srgbClr val="AEB4BF"/>
                </a:solidFill>
              </a:rPr>
              <a:t>-</a:t>
            </a:r>
            <a:r>
              <a:rPr lang="es-ES_tradnl" sz="1200" dirty="0" err="1">
                <a:solidFill>
                  <a:srgbClr val="AEB4BF"/>
                </a:solidFill>
              </a:rPr>
              <a:t>to</a:t>
            </a:r>
            <a:r>
              <a:rPr lang="es-ES_tradnl" sz="1200" dirty="0">
                <a:solidFill>
                  <a:srgbClr val="AEB4BF"/>
                </a:solidFill>
              </a:rPr>
              <a:t>-page y </a:t>
            </a:r>
            <a:r>
              <a:rPr lang="es-ES_tradnl" sz="1200" dirty="0" err="1">
                <a:solidFill>
                  <a:srgbClr val="AEB4BF"/>
                </a:solidFill>
              </a:rPr>
              <a:t>landscape</a:t>
            </a:r>
            <a:r>
              <a:rPr lang="es-ES_tradnl" sz="1200" dirty="0">
                <a:solidFill>
                  <a:srgbClr val="AEB4BF"/>
                </a:solidFill>
              </a:rPr>
              <a:t>.</a:t>
            </a:r>
          </a:p>
        </p:txBody>
      </p: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B7C5C076-562B-4455-A16F-ED9F6AFBF37F}"/>
              </a:ext>
            </a:extLst>
          </p:cNvPr>
          <p:cNvSpPr>
            <a:spLocks noGrp="1"/>
          </p:cNvSpPr>
          <p:nvPr/>
        </p:nvSpPr>
        <p:spPr>
          <a:xfrm>
            <a:off x="8660248" y="2517832"/>
            <a:ext cx="2381250" cy="1173480"/>
          </a:xfrm>
          <a:prstGeom prst="roundRect">
            <a:avLst>
              <a:gd name="adj" fmla="val 7143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5A5E3D0-0E98-4118-8A00-15FAF4614EC2}"/>
              </a:ext>
            </a:extLst>
          </p:cNvPr>
          <p:cNvSpPr>
            <a:spLocks noGrp="1"/>
          </p:cNvSpPr>
          <p:nvPr/>
        </p:nvSpPr>
        <p:spPr>
          <a:xfrm>
            <a:off x="8660248" y="2517832"/>
            <a:ext cx="47625" cy="1173480"/>
          </a:xfrm>
          <a:prstGeom prst="rect">
            <a:avLst/>
          </a:prstGeom>
          <a:solidFill>
            <a:srgbClr val="20B26B"/>
          </a:solidFill>
          <a:ln w="0">
            <a:solidFill>
              <a:srgbClr val="20B26B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8C9F4F5-5AA4-4553-8C5D-7878969F8947}"/>
              </a:ext>
            </a:extLst>
          </p:cNvPr>
          <p:cNvSpPr>
            <a:spLocks noGrp="1"/>
          </p:cNvSpPr>
          <p:nvPr/>
        </p:nvSpPr>
        <p:spPr>
          <a:xfrm>
            <a:off x="8831698" y="2621976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Marca impreso=1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7A74C90-6350-43A5-AD5A-F8158A6C59FD}"/>
              </a:ext>
            </a:extLst>
          </p:cNvPr>
          <p:cNvSpPr>
            <a:spLocks noGrp="1"/>
          </p:cNvSpPr>
          <p:nvPr/>
        </p:nvSpPr>
        <p:spPr>
          <a:xfrm>
            <a:off x="8831698" y="2926776"/>
            <a:ext cx="2057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Solo cuando macOS acepta el trabajo y manda a la EPSON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05592C34-C207-45AE-83CD-5D4856E0E7FC}"/>
              </a:ext>
            </a:extLst>
          </p:cNvPr>
          <p:cNvSpPr>
            <a:spLocks noGrp="1"/>
          </p:cNvSpPr>
          <p:nvPr/>
        </p:nvSpPr>
        <p:spPr>
          <a:xfrm>
            <a:off x="8660248" y="4041832"/>
            <a:ext cx="2381250" cy="1173480"/>
          </a:xfrm>
          <a:prstGeom prst="roundRect">
            <a:avLst>
              <a:gd name="adj" fmla="val 7143"/>
            </a:avLst>
          </a:prstGeom>
          <a:solidFill>
            <a:srgbClr val="292B30"/>
          </a:solidFill>
          <a:ln w="9525">
            <a:solidFill>
              <a:srgbClr val="444952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852ED95-C8DC-4C66-A75B-1EF313C7FF03}"/>
              </a:ext>
            </a:extLst>
          </p:cNvPr>
          <p:cNvSpPr>
            <a:spLocks noGrp="1"/>
          </p:cNvSpPr>
          <p:nvPr/>
        </p:nvSpPr>
        <p:spPr>
          <a:xfrm>
            <a:off x="8660248" y="4041832"/>
            <a:ext cx="47625" cy="1173480"/>
          </a:xfrm>
          <a:prstGeom prst="rect">
            <a:avLst/>
          </a:prstGeom>
          <a:solidFill>
            <a:srgbClr val="F28C28"/>
          </a:solidFill>
          <a:ln w="0">
            <a:solidFill>
              <a:srgbClr val="F28C28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2B71D66-0270-443F-853B-F22DBB1FAB53}"/>
              </a:ext>
            </a:extLst>
          </p:cNvPr>
          <p:cNvSpPr>
            <a:spLocks noGrp="1"/>
          </p:cNvSpPr>
          <p:nvPr/>
        </p:nvSpPr>
        <p:spPr>
          <a:xfrm>
            <a:off x="8831698" y="4145976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s-ES_tradnl" b="1" dirty="0">
                <a:solidFill>
                  <a:schemeClr val="bg1"/>
                </a:solidFill>
              </a:rPr>
              <a:t>Orden operativo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F5E9F00-199E-4B91-A361-DAC5783BA7C0}"/>
              </a:ext>
            </a:extLst>
          </p:cNvPr>
          <p:cNvSpPr>
            <a:spLocks noGrp="1"/>
          </p:cNvSpPr>
          <p:nvPr/>
        </p:nvSpPr>
        <p:spPr>
          <a:xfrm>
            <a:off x="8831698" y="4450776"/>
            <a:ext cx="2057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es-ES_tradnl" sz="1200" dirty="0">
                <a:solidFill>
                  <a:srgbClr val="AEB4BF"/>
                </a:solidFill>
              </a:rPr>
              <a:t>Envía en orden inverso al Excel para conservar la pila física.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E69F1A1-9EF4-411B-9EF4-8E8E6308795E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675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675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RMC Control System | RMC MockupTool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2FCAF91-3DB9-4755-98FD-56EE80C53EFE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750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A86AC3EF-B482-17FB-DDA3-6D2DC82EAC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8" r="24882"/>
          <a:stretch/>
        </p:blipFill>
        <p:spPr>
          <a:xfrm>
            <a:off x="946148" y="1900696"/>
            <a:ext cx="4000500" cy="38333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C00000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48908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9910E5AC-AF93-4C24-8451-B172063BAC00}"/>
              </a:ext>
            </a:extLst>
          </p:cNvPr>
          <p:cNvSpPr>
            <a:spLocks noGrp="1"/>
          </p:cNvSpPr>
          <p:nvPr/>
        </p:nvSpPr>
        <p:spPr>
          <a:xfrm>
            <a:off x="590550" y="4191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75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75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INTEGRACION RMC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1AB351-167A-46EB-B4DB-40C129186456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3000"/>
              </a:lnSpc>
              <a:buNone/>
              <a:defRPr sz="2325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2325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Se integra por datos, no mezclando reglas entre herramientas.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BEAF51B-2B5F-47CB-A2E4-C1EF845C6533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125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Control Center puede consultar rutas, claves, fechas e impresion sin que MockupTool toque tablas de RMCOp-Nike.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C33DAE6-DABA-49C8-8D56-928FA3B4EAF3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514350" cy="381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2B5EC554-034C-434A-80C1-E91FB5CDC3C9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2B2F35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8B51E9C-18C5-4CB2-8B82-23D77B6FB0BB}"/>
              </a:ext>
            </a:extLst>
          </p:cNvPr>
          <p:cNvSpPr>
            <a:spLocks noGrp="1"/>
          </p:cNvSpPr>
          <p:nvPr/>
        </p:nvSpPr>
        <p:spPr>
          <a:xfrm>
            <a:off x="1143000" y="27241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650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RMC MockupTool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1BD9F-5F49-4D6B-8417-51A772E2EAAB}"/>
              </a:ext>
            </a:extLst>
          </p:cNvPr>
          <p:cNvSpPr>
            <a:spLocks noGrp="1"/>
          </p:cNvSpPr>
          <p:nvPr/>
        </p:nvSpPr>
        <p:spPr>
          <a:xfrm>
            <a:off x="1162050" y="3143250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975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Genera PDFs anotados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433D4C2C-2BC5-4490-A1D4-7ED27A649686}"/>
              </a:ext>
            </a:extLst>
          </p:cNvPr>
          <p:cNvSpPr>
            <a:spLocks noGrp="1"/>
          </p:cNvSpPr>
          <p:nvPr/>
        </p:nvSpPr>
        <p:spPr>
          <a:xfrm>
            <a:off x="4857750" y="1962150"/>
            <a:ext cx="2381250" cy="2133600"/>
          </a:xfrm>
          <a:prstGeom prst="roundRect">
            <a:avLst>
              <a:gd name="adj" fmla="val 3571"/>
            </a:avLst>
          </a:prstGeom>
          <a:solidFill>
            <a:srgbClr val="202329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C4F14E1-36D6-437A-9105-E1C0345A2175}"/>
              </a:ext>
            </a:extLst>
          </p:cNvPr>
          <p:cNvSpPr>
            <a:spLocks noGrp="1"/>
          </p:cNvSpPr>
          <p:nvPr/>
        </p:nvSpPr>
        <p:spPr>
          <a:xfrm>
            <a:off x="5124450" y="22669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3C747"/>
                </a:solidFill>
                <a:latin typeface="Calibri"/>
                <a:ea typeface="Calibri"/>
                <a:cs typeface="Calibri"/>
              </a:defRPr>
            </a:pPr>
            <a:r>
              <a:rPr lang="es-ES_tradnl" sz="1800" b="1">
                <a:solidFill>
                  <a:srgbClr val="F3C747"/>
                </a:solidFill>
                <a:latin typeface="Calibri"/>
                <a:ea typeface="Calibri"/>
                <a:cs typeface="Calibri"/>
              </a:rPr>
              <a:t>RMC_CEP.sqlite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2CC4EFD-DB1A-4CB2-BBEE-8C1EED14C738}"/>
              </a:ext>
            </a:extLst>
          </p:cNvPr>
          <p:cNvSpPr>
            <a:spLocks noGrp="1"/>
          </p:cNvSpPr>
          <p:nvPr/>
        </p:nvSpPr>
        <p:spPr>
          <a:xfrm>
            <a:off x="5314950" y="2857500"/>
            <a:ext cx="1428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500" b="0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runs</a:t>
            </a:r>
          </a:p>
          <a:p>
            <a:pPr algn="ctr">
              <a:lnSpc>
                <a:spcPct val="118000"/>
              </a:lnSpc>
              <a:buNone/>
              <a:defRPr sz="1500" b="0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500" b="0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items</a:t>
            </a:r>
          </a:p>
          <a:p>
            <a:pPr algn="ctr">
              <a:lnSpc>
                <a:spcPct val="118000"/>
              </a:lnSpc>
              <a:buNone/>
              <a:defRPr sz="1500" b="0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500" b="0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cep_registry</a:t>
            </a:r>
          </a:p>
          <a:p>
            <a:pPr algn="ctr">
              <a:lnSpc>
                <a:spcPct val="118000"/>
              </a:lnSpc>
              <a:buNone/>
              <a:defRPr sz="1500" b="0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500" b="0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variants leidas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5E71290C-6962-4AE9-BFEF-0F783A689B41}"/>
              </a:ext>
            </a:extLst>
          </p:cNvPr>
          <p:cNvSpPr>
            <a:spLocks noGrp="1"/>
          </p:cNvSpPr>
          <p:nvPr/>
        </p:nvSpPr>
        <p:spPr>
          <a:xfrm>
            <a:off x="8896350" y="24574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2B2F35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98CB3FD-E6C2-40B7-A901-2B4AF26739C9}"/>
              </a:ext>
            </a:extLst>
          </p:cNvPr>
          <p:cNvSpPr>
            <a:spLocks noGrp="1"/>
          </p:cNvSpPr>
          <p:nvPr/>
        </p:nvSpPr>
        <p:spPr>
          <a:xfrm>
            <a:off x="9163050" y="27241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650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Control Center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EA110A2-3B6F-4273-8930-701591E98603}"/>
              </a:ext>
            </a:extLst>
          </p:cNvPr>
          <p:cNvSpPr>
            <a:spLocks noGrp="1"/>
          </p:cNvSpPr>
          <p:nvPr/>
        </p:nvSpPr>
        <p:spPr>
          <a:xfrm>
            <a:off x="9182100" y="3143250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975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Consulta paths y estado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DE0FA37-54DA-49D8-9EE3-30CBCD62783E}"/>
              </a:ext>
            </a:extLst>
          </p:cNvPr>
          <p:cNvSpPr>
            <a:spLocks noGrp="1"/>
          </p:cNvSpPr>
          <p:nvPr/>
        </p:nvSpPr>
        <p:spPr>
          <a:xfrm>
            <a:off x="3505200" y="28575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180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----&gt;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5B100C9-B43C-4ED6-982C-1404A19255D5}"/>
              </a:ext>
            </a:extLst>
          </p:cNvPr>
          <p:cNvSpPr>
            <a:spLocks noGrp="1"/>
          </p:cNvSpPr>
          <p:nvPr/>
        </p:nvSpPr>
        <p:spPr>
          <a:xfrm>
            <a:off x="7524750" y="28575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1800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----&gt;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0E275BEB-F9B7-4D07-B6EC-847065505F1A}"/>
              </a:ext>
            </a:extLst>
          </p:cNvPr>
          <p:cNvSpPr>
            <a:spLocks noGrp="1"/>
          </p:cNvSpPr>
          <p:nvPr/>
        </p:nvSpPr>
        <p:spPr>
          <a:xfrm>
            <a:off x="1676400" y="4895850"/>
            <a:ext cx="3143250" cy="742950"/>
          </a:xfrm>
          <a:prstGeom prst="roundRect">
            <a:avLst>
              <a:gd name="adj" fmla="val 10256"/>
            </a:avLst>
          </a:prstGeom>
          <a:solidFill>
            <a:srgbClr val="2B2F35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528D271-A71C-4915-896F-11C22AB7BD6C}"/>
              </a:ext>
            </a:extLst>
          </p:cNvPr>
          <p:cNvSpPr>
            <a:spLocks noGrp="1"/>
          </p:cNvSpPr>
          <p:nvPr/>
        </p:nvSpPr>
        <p:spPr>
          <a:xfrm>
            <a:off x="1676400" y="4895850"/>
            <a:ext cx="47625" cy="74295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A4E09CD-6650-41F8-B421-AEF247B9EDFD}"/>
              </a:ext>
            </a:extLst>
          </p:cNvPr>
          <p:cNvSpPr>
            <a:spLocks noGrp="1"/>
          </p:cNvSpPr>
          <p:nvPr/>
        </p:nvSpPr>
        <p:spPr>
          <a:xfrm>
            <a:off x="1847850" y="50482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Limite claro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A68344-DDD5-447B-9B73-54E89E8E6BC7}"/>
              </a:ext>
            </a:extLst>
          </p:cNvPr>
          <p:cNvSpPr>
            <a:spLocks noGrp="1"/>
          </p:cNvSpPr>
          <p:nvPr/>
        </p:nvSpPr>
        <p:spPr>
          <a:xfrm>
            <a:off x="1847850" y="5353050"/>
            <a:ext cx="2819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  <a:buNone/>
              <a:defRPr sz="938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938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No modifica tablas rmcop_nike_* ni comparte reglas de escritura.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036B960B-E29F-4E8C-925B-67C5E9A2222B}"/>
              </a:ext>
            </a:extLst>
          </p:cNvPr>
          <p:cNvSpPr>
            <a:spLocks noGrp="1"/>
          </p:cNvSpPr>
          <p:nvPr/>
        </p:nvSpPr>
        <p:spPr>
          <a:xfrm>
            <a:off x="6191250" y="4895850"/>
            <a:ext cx="3143250" cy="742950"/>
          </a:xfrm>
          <a:prstGeom prst="roundRect">
            <a:avLst>
              <a:gd name="adj" fmla="val 10256"/>
            </a:avLst>
          </a:prstGeom>
          <a:solidFill>
            <a:srgbClr val="2B2F35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88E27C3-5CA4-46DA-8810-DF411FEC9ED1}"/>
              </a:ext>
            </a:extLst>
          </p:cNvPr>
          <p:cNvSpPr>
            <a:spLocks noGrp="1"/>
          </p:cNvSpPr>
          <p:nvPr/>
        </p:nvSpPr>
        <p:spPr>
          <a:xfrm>
            <a:off x="6191250" y="4895850"/>
            <a:ext cx="47625" cy="742950"/>
          </a:xfrm>
          <a:prstGeom prst="rect">
            <a:avLst/>
          </a:prstGeom>
          <a:solidFill>
            <a:srgbClr val="20B26B"/>
          </a:solidFill>
          <a:ln w="0">
            <a:solidFill>
              <a:srgbClr val="20B26B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641D752-07F4-4E3D-B558-CA39579DE9B5}"/>
              </a:ext>
            </a:extLst>
          </p:cNvPr>
          <p:cNvSpPr>
            <a:spLocks noGrp="1"/>
          </p:cNvSpPr>
          <p:nvPr/>
        </p:nvSpPr>
        <p:spPr>
          <a:xfrm>
            <a:off x="6362700" y="50482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Contrato util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9C73D38-9E13-4CFD-8276-CB42476D0373}"/>
              </a:ext>
            </a:extLst>
          </p:cNvPr>
          <p:cNvSpPr>
            <a:spLocks noGrp="1"/>
          </p:cNvSpPr>
          <p:nvPr/>
        </p:nvSpPr>
        <p:spPr>
          <a:xfrm>
            <a:off x="6362700" y="5353050"/>
            <a:ext cx="2819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  <a:buNone/>
              <a:defRPr sz="938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938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Control Center debe usar path persistido cuando exista.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BE366D6-91FE-46A8-B3EC-EC1BC112F27A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675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675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RMC Control System | RMC MockupTool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EB2AAE8-07CC-4EA7-A271-3416883165A6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750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5332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014C88B9-B93A-4509-9F92-6D4A3E9B3E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933A7B0-81E5-4531-B97F-B1C335F4D7B9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825" b="1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825" b="1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CIERRE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E82F44F-06EC-494D-B910-D182A7B1395A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6667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2700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MockupTool convierte revision manual en evidencia visual recuperable.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564C223B-D1EE-4BB3-8869-BE2B4F33505F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2381250" cy="990600"/>
          </a:xfrm>
          <a:prstGeom prst="roundRect">
            <a:avLst>
              <a:gd name="adj" fmla="val 7692"/>
            </a:avLst>
          </a:prstGeom>
          <a:solidFill>
            <a:srgbClr val="2B2F35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5678DC5-749B-470F-8815-68AAF14CEE70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47625" cy="9906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0A226D6-6E71-4F4C-A8AA-EB7D91A61751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Produccion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39D8C00-D04D-436B-B8C9-62685D15BE2C}"/>
              </a:ext>
            </a:extLst>
          </p:cNvPr>
          <p:cNvSpPr>
            <a:spLocks noGrp="1"/>
          </p:cNvSpPr>
          <p:nvPr/>
        </p:nvSpPr>
        <p:spPr>
          <a:xfrm>
            <a:off x="952500" y="2971800"/>
            <a:ext cx="2057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  <a:buNone/>
              <a:defRPr sz="938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938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Sabe que falta, que existe y que se omite.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0D8BAB8A-9964-41F3-8934-8DADCAB3BFAC}"/>
              </a:ext>
            </a:extLst>
          </p:cNvPr>
          <p:cNvSpPr>
            <a:spLocks noGrp="1"/>
          </p:cNvSpPr>
          <p:nvPr/>
        </p:nvSpPr>
        <p:spPr>
          <a:xfrm>
            <a:off x="3638550" y="2514600"/>
            <a:ext cx="2381250" cy="990600"/>
          </a:xfrm>
          <a:prstGeom prst="roundRect">
            <a:avLst>
              <a:gd name="adj" fmla="val 7692"/>
            </a:avLst>
          </a:prstGeom>
          <a:solidFill>
            <a:srgbClr val="2B2F35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890EA00-3444-4D47-B7C2-96DBFC435C3E}"/>
              </a:ext>
            </a:extLst>
          </p:cNvPr>
          <p:cNvSpPr>
            <a:spLocks noGrp="1"/>
          </p:cNvSpPr>
          <p:nvPr/>
        </p:nvSpPr>
        <p:spPr>
          <a:xfrm>
            <a:off x="3638550" y="2514600"/>
            <a:ext cx="47625" cy="990600"/>
          </a:xfrm>
          <a:prstGeom prst="rect">
            <a:avLst/>
          </a:prstGeom>
          <a:solidFill>
            <a:srgbClr val="2D7FF9"/>
          </a:solidFill>
          <a:ln w="0">
            <a:solidFill>
              <a:srgbClr val="2D7FF9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A283BB3-B6C6-463B-B41D-9E836D01261F}"/>
              </a:ext>
            </a:extLst>
          </p:cNvPr>
          <p:cNvSpPr>
            <a:spLocks noGrp="1"/>
          </p:cNvSpPr>
          <p:nvPr/>
        </p:nvSpPr>
        <p:spPr>
          <a:xfrm>
            <a:off x="3810000" y="26670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Diseno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D6EC483-A091-4062-9DC6-CA2D57060748}"/>
              </a:ext>
            </a:extLst>
          </p:cNvPr>
          <p:cNvSpPr>
            <a:spLocks noGrp="1"/>
          </p:cNvSpPr>
          <p:nvPr/>
        </p:nvSpPr>
        <p:spPr>
          <a:xfrm>
            <a:off x="3810000" y="2971800"/>
            <a:ext cx="2057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  <a:buNone/>
              <a:defRPr sz="938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938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Revisa datos anotados sin abrir multiples fuentes.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D6B94287-7CE9-4160-938A-E82C2991B378}"/>
              </a:ext>
            </a:extLst>
          </p:cNvPr>
          <p:cNvSpPr>
            <a:spLocks noGrp="1"/>
          </p:cNvSpPr>
          <p:nvPr/>
        </p:nvSpPr>
        <p:spPr>
          <a:xfrm>
            <a:off x="6496050" y="2514600"/>
            <a:ext cx="2381250" cy="990600"/>
          </a:xfrm>
          <a:prstGeom prst="roundRect">
            <a:avLst>
              <a:gd name="adj" fmla="val 7692"/>
            </a:avLst>
          </a:prstGeom>
          <a:solidFill>
            <a:srgbClr val="2B2F35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2A77FA2-D01C-44AA-A6E8-F025B92B62EC}"/>
              </a:ext>
            </a:extLst>
          </p:cNvPr>
          <p:cNvSpPr>
            <a:spLocks noGrp="1"/>
          </p:cNvSpPr>
          <p:nvPr/>
        </p:nvSpPr>
        <p:spPr>
          <a:xfrm>
            <a:off x="6496050" y="2514600"/>
            <a:ext cx="47625" cy="990600"/>
          </a:xfrm>
          <a:prstGeom prst="rect">
            <a:avLst/>
          </a:prstGeom>
          <a:solidFill>
            <a:srgbClr val="20B26B"/>
          </a:solidFill>
          <a:ln w="0">
            <a:solidFill>
              <a:srgbClr val="20B26B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3E0DAD5-DD8B-4031-A740-AF62C32310E9}"/>
              </a:ext>
            </a:extLst>
          </p:cNvPr>
          <p:cNvSpPr>
            <a:spLocks noGrp="1"/>
          </p:cNvSpPr>
          <p:nvPr/>
        </p:nvSpPr>
        <p:spPr>
          <a:xfrm>
            <a:off x="6667500" y="26670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Seguimiento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40717E0-BBC4-4035-AB02-499D15BC2084}"/>
              </a:ext>
            </a:extLst>
          </p:cNvPr>
          <p:cNvSpPr>
            <a:spLocks noGrp="1"/>
          </p:cNvSpPr>
          <p:nvPr/>
        </p:nvSpPr>
        <p:spPr>
          <a:xfrm>
            <a:off x="6667500" y="2971800"/>
            <a:ext cx="2057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  <a:buNone/>
              <a:defRPr sz="938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938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Consulta path, fecha, clave e impreso.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84F555C2-63D8-4949-98BB-8C7FEC3B7EDF}"/>
              </a:ext>
            </a:extLst>
          </p:cNvPr>
          <p:cNvSpPr>
            <a:spLocks noGrp="1"/>
          </p:cNvSpPr>
          <p:nvPr/>
        </p:nvSpPr>
        <p:spPr>
          <a:xfrm>
            <a:off x="9353550" y="2514600"/>
            <a:ext cx="2000250" cy="990600"/>
          </a:xfrm>
          <a:prstGeom prst="roundRect">
            <a:avLst>
              <a:gd name="adj" fmla="val 7692"/>
            </a:avLst>
          </a:prstGeom>
          <a:solidFill>
            <a:srgbClr val="2B2F35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AF99CC5-5B6A-42D8-9B76-EBA5661EF653}"/>
              </a:ext>
            </a:extLst>
          </p:cNvPr>
          <p:cNvSpPr>
            <a:spLocks noGrp="1"/>
          </p:cNvSpPr>
          <p:nvPr/>
        </p:nvSpPr>
        <p:spPr>
          <a:xfrm>
            <a:off x="9353550" y="2514600"/>
            <a:ext cx="47625" cy="990600"/>
          </a:xfrm>
          <a:prstGeom prst="rect">
            <a:avLst/>
          </a:prstGeom>
          <a:solidFill>
            <a:srgbClr val="F3C747"/>
          </a:solidFill>
          <a:ln w="0">
            <a:solidFill>
              <a:srgbClr val="F3C747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BCB836E-5AF8-48AF-BD5A-B226063B57CC}"/>
              </a:ext>
            </a:extLst>
          </p:cNvPr>
          <p:cNvSpPr>
            <a:spLocks noGrp="1"/>
          </p:cNvSpPr>
          <p:nvPr/>
        </p:nvSpPr>
        <p:spPr>
          <a:xfrm>
            <a:off x="9525000" y="26670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AA10D1E-1BF5-4D36-9191-68EEC05CB9EA}"/>
              </a:ext>
            </a:extLst>
          </p:cNvPr>
          <p:cNvSpPr>
            <a:spLocks noGrp="1"/>
          </p:cNvSpPr>
          <p:nvPr/>
        </p:nvSpPr>
        <p:spPr>
          <a:xfrm>
            <a:off x="9525000" y="2971800"/>
            <a:ext cx="167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  <a:buNone/>
              <a:defRPr sz="938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938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Evita duplicados con clave UNIQUE.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82BDB34-238E-4D48-AA56-A152FF97A7F7}"/>
              </a:ext>
            </a:extLst>
          </p:cNvPr>
          <p:cNvSpPr>
            <a:spLocks noGrp="1"/>
          </p:cNvSpPr>
          <p:nvPr/>
        </p:nvSpPr>
        <p:spPr>
          <a:xfrm>
            <a:off x="800100" y="4362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725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Mejoras abiertas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E670D6E-99F4-45FE-8B1D-38BBD3ECC3E6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1. Separar historial inmutable, assets y print_events.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2. Completar flujo para fuentes JPG.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3. Diagnostico agrupado de mockups faltantes.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1350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4. Consulta visual mas directa desde Control Center.</a:t>
            </a: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C6D7BB21-7AD9-41F4-85FD-73070F8BB459}"/>
              </a:ext>
            </a:extLst>
          </p:cNvPr>
          <p:cNvSpPr>
            <a:spLocks noGrp="1"/>
          </p:cNvSpPr>
          <p:nvPr/>
        </p:nvSpPr>
        <p:spPr>
          <a:xfrm>
            <a:off x="8648700" y="455295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202329"/>
          </a:solidFill>
          <a:ln w="9525">
            <a:solidFill>
              <a:srgbClr val="3A3F47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7DE90E9-DDBE-40AC-ACFF-61ABA24E0895}"/>
              </a:ext>
            </a:extLst>
          </p:cNvPr>
          <p:cNvSpPr>
            <a:spLocks noGrp="1"/>
          </p:cNvSpPr>
          <p:nvPr/>
        </p:nvSpPr>
        <p:spPr>
          <a:xfrm>
            <a:off x="8648700" y="4552950"/>
            <a:ext cx="57150" cy="1104900"/>
          </a:xfrm>
          <a:prstGeom prst="rect">
            <a:avLst/>
          </a:prstGeom>
          <a:solidFill>
            <a:srgbClr val="BD1F36"/>
          </a:solidFill>
          <a:ln w="0">
            <a:solidFill>
              <a:srgbClr val="BD1F36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F444E79-1AF7-4D5A-A8EE-C07623C0C0B1}"/>
              </a:ext>
            </a:extLst>
          </p:cNvPr>
          <p:cNvSpPr>
            <a:spLocks noGrp="1"/>
          </p:cNvSpPr>
          <p:nvPr/>
        </p:nvSpPr>
        <p:spPr>
          <a:xfrm>
            <a:off x="8877300" y="499491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3F4F6"/>
                </a:solidFill>
                <a:latin typeface="Calibri"/>
                <a:ea typeface="Calibri"/>
                <a:cs typeface="Calibri"/>
              </a:defRPr>
            </a:pPr>
            <a:r>
              <a:rPr lang="es-ES_tradnl" sz="1200" b="1">
                <a:solidFill>
                  <a:srgbClr val="F3F4F6"/>
                </a:solidFill>
                <a:latin typeface="Calibri"/>
                <a:ea typeface="Calibri"/>
                <a:cs typeface="Calibri"/>
              </a:rPr>
              <a:t>[INSERTAR MOCKUP REAL]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02A4FBF-47C1-42D1-B198-867E1E23ADE1}"/>
              </a:ext>
            </a:extLst>
          </p:cNvPr>
          <p:cNvSpPr>
            <a:spLocks noGrp="1"/>
          </p:cNvSpPr>
          <p:nvPr/>
        </p:nvSpPr>
        <p:spPr>
          <a:xfrm>
            <a:off x="9029700" y="5138547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825" b="0">
                <a:solidFill>
                  <a:srgbClr val="B8BEC8"/>
                </a:solidFill>
                <a:latin typeface="Calibri"/>
                <a:ea typeface="Calibri"/>
                <a:cs typeface="Calibri"/>
              </a:defRPr>
            </a:pPr>
            <a:r>
              <a:rPr lang="es-ES_tradnl" sz="825" b="0">
                <a:solidFill>
                  <a:srgbClr val="B8BEC8"/>
                </a:solidFill>
                <a:latin typeface="Calibri"/>
                <a:ea typeface="Calibri"/>
                <a:cs typeface="Calibri"/>
              </a:rPr>
              <a:t>Ejemplo final para cierre ejecutivo.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50AE0FC-5943-49F6-9A64-F46725461993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675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675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RMC Control System | RMC MockupTool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B457B12-C058-4BBA-AD29-5C6F9CFA5AA8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7D8592"/>
                </a:solidFill>
                <a:latin typeface="Calibri"/>
                <a:ea typeface="Calibri"/>
                <a:cs typeface="Calibri"/>
              </a:defRPr>
            </a:pPr>
            <a:r>
              <a:rPr lang="es-ES_tradnl" sz="750" b="0">
                <a:solidFill>
                  <a:srgbClr val="7D8592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885199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1385</Words>
  <Application>Microsoft Macintosh PowerPoint</Application>
  <DocSecurity>0</DocSecurity>
  <PresentationFormat>Panorámica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RMLSUB1</cp:lastModifiedBy>
  <cp:revision>12</cp:revision>
  <dcterms:created xsi:type="dcterms:W3CDTF">2026-07-08T22:05:05Z</dcterms:created>
  <dcterms:modified xsi:type="dcterms:W3CDTF">2026-07-14T20:31:08Z</dcterms:modified>
</cp:coreProperties>
</file>