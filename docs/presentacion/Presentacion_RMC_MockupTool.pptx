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718"/>
  </p:normalViewPr>
  <p:slideViewPr>
    <p:cSldViewPr snapToGrid="0">
      <p:cViewPr>
        <p:scale>
          <a:sx n="140" d="100"/>
          <a:sy n="140" d="100"/>
        </p:scale>
        <p:origin x="14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MockupTool como modulo operativo de maquetas visuales, separado del arte final.</a:t>
            </a:r>
          </a:p>
          <a:p>
            <a:r>
              <a:t>La promesa central es validar primero, generar solo faltantes y dejar ruta consultable.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Enfatizar que la herramienta reduce busquedas y ambiguedad operativa.</a:t>
            </a:r>
          </a:p>
          <a:p>
            <a:r>
              <a:t>No hablar todavia de tecnologia; primero dejar claro el dolor del flujo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slide debe diferenciar el flujo real del repo: Validar trabaja en memoria.</a:t>
            </a:r>
          </a:p>
          <a:p>
            <a:r>
              <a:t>Generar siempre vuelve a validar, por eso no depende de un plan viejo.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Usar esta slide para aclarar OD vs Genericas y los nuevos A1500/Y1500 shorts.</a:t>
            </a:r>
          </a:p>
          <a:p>
            <a:r>
              <a:t>Genericas se apoya en catalogo de variantes; no hardcodea todo desde el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vender Validar como vista previa solamente: es el plan de produccion.</a:t>
            </a:r>
          </a:p>
          <a:p>
            <a:r>
              <a:t>La bandera impreso vive separada del estado de generacion.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Aclarar que esta es una maqueta para revision y consulta, no el archivo final productivo.</a:t>
            </a:r>
          </a:p>
          <a:p>
            <a:r>
              <a:t>Mencionar que las firmas SVG se bloquean si no hay version raster.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Corregir cualquier duda: Genericas ya usa la carpeta fisica del Excel como raiz.</a:t>
            </a:r>
          </a:p>
          <a:p>
            <a:r>
              <a:t>El valor de path persistido evita reconstruir rutas en Control Center.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Explicar que la base es compartida, pero las tablas de MockupTool son propias.</a:t>
            </a:r>
          </a:p>
          <a:p>
            <a:r>
              <a:t>No presentar la reestructura recomendada como implementada.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Subrayar que impreso=1 significa aceptado por macOS, no garantia fisica.</a:t>
            </a:r>
          </a:p>
          <a:p>
            <a:r>
              <a:t>Items SIN REGISTRO no se mandan por defecto porque no hay clave que actualizar.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slide debe calmar la preocupacion de mezcla entre repos.</a:t>
            </a:r>
          </a:p>
          <a:p>
            <a:r>
              <a:t>La integracion es por la base central y campos persistidos, no por acoplar logica.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Cerrar con la idea de evidencia recuperable: archivo, ruta, clave y estado.</a:t>
            </a:r>
          </a:p>
          <a:p>
            <a:r>
              <a:t>Las mejoras abiertas son oportunidades, no trabajo ya implementado.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8D2EC6D5-0B7E-4E6A-960A-0E42095B18D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4930551B-9FD6-442D-ACB3-E3B456F4C92F}"/>
              </a:ext>
            </a:extLst>
          </p:cNvPr>
          <p:cNvSpPr>
            <a:spLocks noGrp="1"/>
          </p:cNvSpPr>
          <p:nvPr/>
        </p:nvSpPr>
        <p:spPr>
          <a:xfrm>
            <a:off x="590550" y="514350"/>
            <a:ext cx="2476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RMC </a:t>
            </a:r>
            <a:r>
              <a:rPr lang="es-ES_tradnl" sz="975" b="1">
                <a:solidFill>
                  <a:srgbClr val="AEB4BF"/>
                </a:solidFill>
              </a:rPr>
              <a:t>CONTROL SYSTEM</a:t>
            </a:r>
            <a:endParaRPr lang="es-ES_tradnl" sz="975" b="1" dirty="0">
              <a:solidFill>
                <a:srgbClr val="AEB4BF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203C64AD-0DD8-4A1D-8B39-CEF0B15F7065}"/>
              </a:ext>
            </a:extLst>
          </p:cNvPr>
          <p:cNvSpPr>
            <a:spLocks noGrp="1"/>
          </p:cNvSpPr>
          <p:nvPr/>
        </p:nvSpPr>
        <p:spPr>
          <a:xfrm>
            <a:off x="668483" y="3485300"/>
            <a:ext cx="5082815" cy="8930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15000"/>
              </a:lnSpc>
              <a:buNone/>
              <a:defRPr sz="17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725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Maquetas visuales para validar, consultar e imprimir sin mezclar archivos finales de producción.</a:t>
            </a:r>
          </a:p>
        </p:txBody>
      </p:sp>
      <p:sp>
        <p:nvSpPr>
          <p:cNvPr id="6" name="Rectángulo redondeado 5">
            <a:extLst>
              <a:ext uri="{FF2B5EF4-FFF2-40B4-BE49-F238E27FC236}">
                <a16:creationId xmlns:a16="http://schemas.microsoft.com/office/drawing/2014/main" id="{4F75909F-3EFC-4DB8-85C2-52D3727C0C85}"/>
              </a:ext>
            </a:extLst>
          </p:cNvPr>
          <p:cNvSpPr>
            <a:spLocks noGrp="1"/>
          </p:cNvSpPr>
          <p:nvPr/>
        </p:nvSpPr>
        <p:spPr>
          <a:xfrm>
            <a:off x="1351395" y="4665261"/>
            <a:ext cx="1104900" cy="266700"/>
          </a:xfrm>
          <a:prstGeom prst="roundRect">
            <a:avLst>
              <a:gd name="adj" fmla="val 42857"/>
            </a:avLst>
          </a:prstGeom>
          <a:solidFill>
            <a:srgbClr val="BD1F36"/>
          </a:solidFill>
          <a:ln w="9525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212E646-2FF8-42DC-A993-3A8F3BD79742}"/>
              </a:ext>
            </a:extLst>
          </p:cNvPr>
          <p:cNvSpPr>
            <a:spLocks noGrp="1"/>
          </p:cNvSpPr>
          <p:nvPr/>
        </p:nvSpPr>
        <p:spPr>
          <a:xfrm>
            <a:off x="1351395" y="4740699"/>
            <a:ext cx="1104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Excel Nike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1DDBFF45-ED9A-455C-ABF6-413FDF87213D}"/>
              </a:ext>
            </a:extLst>
          </p:cNvPr>
          <p:cNvSpPr>
            <a:spLocks noGrp="1"/>
          </p:cNvSpPr>
          <p:nvPr/>
        </p:nvSpPr>
        <p:spPr>
          <a:xfrm>
            <a:off x="2589645" y="4665261"/>
            <a:ext cx="1257300" cy="266700"/>
          </a:xfrm>
          <a:prstGeom prst="roundRect">
            <a:avLst>
              <a:gd name="adj" fmla="val 42857"/>
            </a:avLst>
          </a:prstGeom>
          <a:solidFill>
            <a:srgbClr val="2D7FF9"/>
          </a:solidFill>
          <a:ln w="9525">
            <a:solidFill>
              <a:srgbClr val="2D7FF9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D12B74D-7D83-4304-8701-3B048364F8D5}"/>
              </a:ext>
            </a:extLst>
          </p:cNvPr>
          <p:cNvSpPr>
            <a:spLocks noGrp="1"/>
          </p:cNvSpPr>
          <p:nvPr/>
        </p:nvSpPr>
        <p:spPr>
          <a:xfrm>
            <a:off x="2589645" y="4740699"/>
            <a:ext cx="1257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PDF anotado</a:t>
            </a:r>
          </a:p>
        </p:txBody>
      </p:sp>
      <p:sp>
        <p:nvSpPr>
          <p:cNvPr id="10" name="Rectángulo redondeado 9">
            <a:extLst>
              <a:ext uri="{FF2B5EF4-FFF2-40B4-BE49-F238E27FC236}">
                <a16:creationId xmlns:a16="http://schemas.microsoft.com/office/drawing/2014/main" id="{AF1BD726-996E-4DDE-A384-FBFC6F1C28FF}"/>
              </a:ext>
            </a:extLst>
          </p:cNvPr>
          <p:cNvSpPr>
            <a:spLocks noGrp="1"/>
          </p:cNvSpPr>
          <p:nvPr/>
        </p:nvSpPr>
        <p:spPr>
          <a:xfrm>
            <a:off x="3980295" y="4665261"/>
            <a:ext cx="1257300" cy="266700"/>
          </a:xfrm>
          <a:prstGeom prst="roundRect">
            <a:avLst>
              <a:gd name="adj" fmla="val 42857"/>
            </a:avLst>
          </a:prstGeom>
          <a:solidFill>
            <a:srgbClr val="20B26B"/>
          </a:solidFill>
          <a:ln w="9525">
            <a:solidFill>
              <a:srgbClr val="20B26B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C1BB657E-AD15-4A69-A6DF-A17B9E2CF669}"/>
              </a:ext>
            </a:extLst>
          </p:cNvPr>
          <p:cNvSpPr>
            <a:spLocks noGrp="1"/>
          </p:cNvSpPr>
          <p:nvPr/>
        </p:nvSpPr>
        <p:spPr>
          <a:xfrm>
            <a:off x="3980295" y="4740699"/>
            <a:ext cx="1257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SQLite propio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F65C3C77-1BCF-4D6D-B7BE-81CFE8EC8BB5}"/>
              </a:ext>
            </a:extLst>
          </p:cNvPr>
          <p:cNvSpPr>
            <a:spLocks noGrp="1"/>
          </p:cNvSpPr>
          <p:nvPr/>
        </p:nvSpPr>
        <p:spPr>
          <a:xfrm>
            <a:off x="609600" y="581025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90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90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Julio 2026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E9C0EBD-8BBB-4460-8DB4-22019035A92D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FF52FD9B-3D74-4F90-B384-A55DB1632CD4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A71C6CD2-927C-DFDA-4B4A-127A084BB8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224" y="1067378"/>
            <a:ext cx="5751801" cy="2129044"/>
          </a:xfrm>
          <a:prstGeom prst="rect">
            <a:avLst/>
          </a:prstGeom>
        </p:spPr>
      </p:pic>
      <p:pic>
        <p:nvPicPr>
          <p:cNvPr id="28" name="Imagen 27">
            <a:extLst>
              <a:ext uri="{FF2B5EF4-FFF2-40B4-BE49-F238E27FC236}">
                <a16:creationId xmlns:a16="http://schemas.microsoft.com/office/drawing/2014/main" id="{DEFF3DA8-388D-7FC8-8ADF-FF58C40B7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7285" y="514350"/>
            <a:ext cx="2651413" cy="56350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solidFill>
              <a:srgbClr val="C00000"/>
            </a:solidFill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00063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ángulo 22">
            <a:extLst>
              <a:ext uri="{FF2B5EF4-FFF2-40B4-BE49-F238E27FC236}">
                <a16:creationId xmlns:a16="http://schemas.microsoft.com/office/drawing/2014/main" id="{38D08E03-7574-4259-9E30-C08A0475620F}"/>
              </a:ext>
            </a:extLst>
          </p:cNvPr>
          <p:cNvSpPr>
            <a:spLocks noGrp="1"/>
          </p:cNvSpPr>
          <p:nvPr/>
        </p:nvSpPr>
        <p:spPr>
          <a:xfrm>
            <a:off x="490534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PROBLEMA OPERATIVO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BE3F6D5-09DC-4E62-AF39-2476E8D9F5DE}"/>
              </a:ext>
            </a:extLst>
          </p:cNvPr>
          <p:cNvSpPr>
            <a:spLocks noGrp="1"/>
          </p:cNvSpPr>
          <p:nvPr/>
        </p:nvSpPr>
        <p:spPr>
          <a:xfrm>
            <a:off x="490533" y="666750"/>
            <a:ext cx="9791123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Sin maqueta trazable, revisar se vuelve una cadena manual.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D57931C-29B3-4C44-92D6-FF7DE6589EC9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B473F0A9-E21C-4FF9-BD2C-3DAB1F555D00}"/>
              </a:ext>
            </a:extLst>
          </p:cNvPr>
          <p:cNvSpPr>
            <a:spLocks noGrp="1"/>
          </p:cNvSpPr>
          <p:nvPr/>
        </p:nvSpPr>
        <p:spPr>
          <a:xfrm>
            <a:off x="776284" y="1932940"/>
            <a:ext cx="2619375" cy="1123950"/>
          </a:xfrm>
          <a:prstGeom prst="roundRect">
            <a:avLst>
              <a:gd name="adj" fmla="val 6780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AB9C3A2-D752-4A31-A29C-A258411B16AE}"/>
              </a:ext>
            </a:extLst>
          </p:cNvPr>
          <p:cNvSpPr>
            <a:spLocks noGrp="1"/>
          </p:cNvSpPr>
          <p:nvPr/>
        </p:nvSpPr>
        <p:spPr>
          <a:xfrm>
            <a:off x="776284" y="1932940"/>
            <a:ext cx="47625" cy="11239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FB43949-7C42-46FD-884D-AE59458C9CD8}"/>
              </a:ext>
            </a:extLst>
          </p:cNvPr>
          <p:cNvSpPr>
            <a:spLocks noGrp="1"/>
          </p:cNvSpPr>
          <p:nvPr/>
        </p:nvSpPr>
        <p:spPr>
          <a:xfrm>
            <a:off x="947734" y="2020688"/>
            <a:ext cx="2333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Antes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1DEF845-C100-4B1A-976A-633A7B8199B7}"/>
              </a:ext>
            </a:extLst>
          </p:cNvPr>
          <p:cNvSpPr>
            <a:spLocks noGrp="1"/>
          </p:cNvSpPr>
          <p:nvPr/>
        </p:nvSpPr>
        <p:spPr>
          <a:xfrm>
            <a:off x="947734" y="2325488"/>
            <a:ext cx="22955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Buscar maqueta, anotar datos manualmente y marcar en lista si ya esta impresa.</a:t>
            </a:r>
          </a:p>
        </p:txBody>
      </p:sp>
      <p:sp>
        <p:nvSpPr>
          <p:cNvPr id="9" name="Rectángulo redondeado 8">
            <a:extLst>
              <a:ext uri="{FF2B5EF4-FFF2-40B4-BE49-F238E27FC236}">
                <a16:creationId xmlns:a16="http://schemas.microsoft.com/office/drawing/2014/main" id="{A4B8C49B-3C2D-4D16-BA7F-2457F0470959}"/>
              </a:ext>
            </a:extLst>
          </p:cNvPr>
          <p:cNvSpPr>
            <a:spLocks noGrp="1"/>
          </p:cNvSpPr>
          <p:nvPr/>
        </p:nvSpPr>
        <p:spPr>
          <a:xfrm>
            <a:off x="1347784" y="3285490"/>
            <a:ext cx="3143250" cy="1123950"/>
          </a:xfrm>
          <a:prstGeom prst="roundRect">
            <a:avLst>
              <a:gd name="adj" fmla="val 6780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B09778D9-FFC9-4EDD-946E-407D24A446DD}"/>
              </a:ext>
            </a:extLst>
          </p:cNvPr>
          <p:cNvSpPr>
            <a:spLocks noGrp="1"/>
          </p:cNvSpPr>
          <p:nvPr/>
        </p:nvSpPr>
        <p:spPr>
          <a:xfrm>
            <a:off x="1347784" y="3285490"/>
            <a:ext cx="47625" cy="1123950"/>
          </a:xfrm>
          <a:prstGeom prst="rect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8F4C6FE-D83F-4EED-B2C6-A03BFACF37CD}"/>
              </a:ext>
            </a:extLst>
          </p:cNvPr>
          <p:cNvSpPr>
            <a:spLocks noGrp="1"/>
          </p:cNvSpPr>
          <p:nvPr/>
        </p:nvSpPr>
        <p:spPr>
          <a:xfrm>
            <a:off x="1519234" y="3373238"/>
            <a:ext cx="2333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Riesgo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BF5A4D3-8F63-48BB-AA79-FF6C5E26BC05}"/>
              </a:ext>
            </a:extLst>
          </p:cNvPr>
          <p:cNvSpPr>
            <a:spLocks noGrp="1"/>
          </p:cNvSpPr>
          <p:nvPr/>
        </p:nvSpPr>
        <p:spPr>
          <a:xfrm>
            <a:off x="1519233" y="3678037"/>
            <a:ext cx="2905125" cy="6456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Era que los datos escritos en las maquetas podrían venir erróneos, provocando dudas durante el proceso.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DADB9B53-263F-4947-981E-F434548E80C5}"/>
              </a:ext>
            </a:extLst>
          </p:cNvPr>
          <p:cNvSpPr>
            <a:spLocks noGrp="1"/>
          </p:cNvSpPr>
          <p:nvPr/>
        </p:nvSpPr>
        <p:spPr>
          <a:xfrm>
            <a:off x="1919284" y="4638039"/>
            <a:ext cx="3143250" cy="1023501"/>
          </a:xfrm>
          <a:prstGeom prst="roundRect">
            <a:avLst>
              <a:gd name="adj" fmla="val 8163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CCC38B81-84B1-40BB-A94E-50DC29073061}"/>
              </a:ext>
            </a:extLst>
          </p:cNvPr>
          <p:cNvSpPr>
            <a:spLocks noGrp="1"/>
          </p:cNvSpPr>
          <p:nvPr/>
        </p:nvSpPr>
        <p:spPr>
          <a:xfrm>
            <a:off x="1919284" y="4638040"/>
            <a:ext cx="45719" cy="102350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D1FEECA-BBC9-489B-A40E-712FB4452999}"/>
              </a:ext>
            </a:extLst>
          </p:cNvPr>
          <p:cNvSpPr>
            <a:spLocks noGrp="1"/>
          </p:cNvSpPr>
          <p:nvPr/>
        </p:nvSpPr>
        <p:spPr>
          <a:xfrm>
            <a:off x="2090734" y="4725788"/>
            <a:ext cx="23336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Costo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55833A37-4FFB-4C50-B630-8A07E6B69516}"/>
              </a:ext>
            </a:extLst>
          </p:cNvPr>
          <p:cNvSpPr>
            <a:spLocks noGrp="1"/>
          </p:cNvSpPr>
          <p:nvPr/>
        </p:nvSpPr>
        <p:spPr>
          <a:xfrm>
            <a:off x="2090734" y="5030588"/>
            <a:ext cx="2876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Mas preguntas entre diseño, producción  o incluso tener que rehacer piezas completas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27E4829D-AD89-4992-9AD2-3B4EFB2179FA}"/>
              </a:ext>
            </a:extLst>
          </p:cNvPr>
          <p:cNvSpPr>
            <a:spLocks noGrp="1"/>
          </p:cNvSpPr>
          <p:nvPr/>
        </p:nvSpPr>
        <p:spPr>
          <a:xfrm>
            <a:off x="5672134" y="1948815"/>
            <a:ext cx="5334000" cy="3143250"/>
          </a:xfrm>
          <a:prstGeom prst="roundRect">
            <a:avLst>
              <a:gd name="adj" fmla="val 2424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  <p:txBody>
          <a:bodyPr/>
          <a:lstStyle/>
          <a:p>
            <a:endParaRPr lang="es-ES_tradnl" dirty="0"/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4F9C259-3828-4FC1-9816-CB61F71BE0E3}"/>
              </a:ext>
            </a:extLst>
          </p:cNvPr>
          <p:cNvSpPr>
            <a:spLocks noGrp="1"/>
          </p:cNvSpPr>
          <p:nvPr/>
        </p:nvSpPr>
        <p:spPr>
          <a:xfrm>
            <a:off x="6148384" y="2444115"/>
            <a:ext cx="4572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El problema real no es crear una maqueta.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B5533D0-F2AD-4C5A-8BB4-A401CD894C09}"/>
              </a:ext>
            </a:extLst>
          </p:cNvPr>
          <p:cNvSpPr>
            <a:spLocks noGrp="1"/>
          </p:cNvSpPr>
          <p:nvPr/>
        </p:nvSpPr>
        <p:spPr>
          <a:xfrm>
            <a:off x="6129334" y="3339972"/>
            <a:ext cx="4191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6000"/>
              </a:lnSpc>
              <a:buNone/>
              <a:defRPr sz="165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65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Es saber con certeza si la información es correcta, donde qued</a:t>
            </a:r>
            <a:r>
              <a:rPr lang="es-ES_tradnl" sz="165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ó</a:t>
            </a:r>
            <a:r>
              <a:rPr lang="es-ES_tradnl" sz="165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y que pedido representa.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009D82F-CC05-4270-BFEC-B8BFF442754B}"/>
              </a:ext>
            </a:extLst>
          </p:cNvPr>
          <p:cNvSpPr>
            <a:spLocks noGrp="1"/>
          </p:cNvSpPr>
          <p:nvPr/>
        </p:nvSpPr>
        <p:spPr>
          <a:xfrm>
            <a:off x="6148384" y="4463415"/>
            <a:ext cx="2095500" cy="4762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CDD24C32-17CE-4651-BA49-54F40C4551FE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C4D53376-EADD-419C-90DA-BEDEEFB0DE95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44063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ángulo 47">
            <a:extLst>
              <a:ext uri="{FF2B5EF4-FFF2-40B4-BE49-F238E27FC236}">
                <a16:creationId xmlns:a16="http://schemas.microsoft.com/office/drawing/2014/main" id="{612EC07A-28EF-4A71-9C29-3D6B050ECABD}"/>
              </a:ext>
            </a:extLst>
          </p:cNvPr>
          <p:cNvSpPr>
            <a:spLocks noGrp="1"/>
          </p:cNvSpPr>
          <p:nvPr/>
        </p:nvSpPr>
        <p:spPr>
          <a:xfrm>
            <a:off x="504822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FLUJO SEGURO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30ABBFC-6E86-4E73-926C-E4BCA7963929}"/>
              </a:ext>
            </a:extLst>
          </p:cNvPr>
          <p:cNvSpPr>
            <a:spLocks noGrp="1"/>
          </p:cNvSpPr>
          <p:nvPr/>
        </p:nvSpPr>
        <p:spPr>
          <a:xfrm>
            <a:off x="504822" y="666750"/>
            <a:ext cx="100584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>
                <a:solidFill>
                  <a:schemeClr val="bg1"/>
                </a:solidFill>
              </a:rPr>
              <a:t>MockupTool convierte el Excel en un plan antes de escribir.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72DAC74-5E17-4B39-A438-567CDF250736}"/>
              </a:ext>
            </a:extLst>
          </p:cNvPr>
          <p:cNvSpPr>
            <a:spLocks noGrp="1"/>
          </p:cNvSpPr>
          <p:nvPr/>
        </p:nvSpPr>
        <p:spPr>
          <a:xfrm>
            <a:off x="523872" y="1114425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>
                <a:solidFill>
                  <a:srgbClr val="AEB4BF"/>
                </a:solidFill>
              </a:rPr>
              <a:t>El flujo productivo del repo esta construido alrededor de una regla: validar primero y generar después.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53C016F6-D7DD-4286-979B-64BDCF1E451C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CCF649B8-FFEA-48E2-A1E7-B717A902451E}"/>
              </a:ext>
            </a:extLst>
          </p:cNvPr>
          <p:cNvSpPr>
            <a:spLocks noGrp="1"/>
          </p:cNvSpPr>
          <p:nvPr/>
        </p:nvSpPr>
        <p:spPr>
          <a:xfrm>
            <a:off x="701040" y="2333625"/>
            <a:ext cx="2132838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E4A404F1-31A1-44C9-B96F-504055E599E4}"/>
              </a:ext>
            </a:extLst>
          </p:cNvPr>
          <p:cNvSpPr>
            <a:spLocks noGrp="1"/>
          </p:cNvSpPr>
          <p:nvPr/>
        </p:nvSpPr>
        <p:spPr>
          <a:xfrm>
            <a:off x="701040" y="2333625"/>
            <a:ext cx="2132838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91971EA-8641-4DF8-8E2B-1BD9170C5928}"/>
              </a:ext>
            </a:extLst>
          </p:cNvPr>
          <p:cNvSpPr>
            <a:spLocks noGrp="1"/>
          </p:cNvSpPr>
          <p:nvPr/>
        </p:nvSpPr>
        <p:spPr>
          <a:xfrm>
            <a:off x="853440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9BE7AEF7-D527-4A10-ACF2-32FCBADA0102}"/>
              </a:ext>
            </a:extLst>
          </p:cNvPr>
          <p:cNvSpPr>
            <a:spLocks noGrp="1"/>
          </p:cNvSpPr>
          <p:nvPr/>
        </p:nvSpPr>
        <p:spPr>
          <a:xfrm>
            <a:off x="1053846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Preparar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B56BF28-6732-40C0-B2DC-00A7ECD32939}"/>
              </a:ext>
            </a:extLst>
          </p:cNvPr>
          <p:cNvSpPr>
            <a:spLocks noGrp="1"/>
          </p:cNvSpPr>
          <p:nvPr/>
        </p:nvSpPr>
        <p:spPr>
          <a:xfrm>
            <a:off x="735330" y="2977895"/>
            <a:ext cx="2052828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Excel, Sección (Personalizadas o Genérica) , salida, diseñador y filtros.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BEE15CC-236A-4875-BB53-176985A47A34}"/>
              </a:ext>
            </a:extLst>
          </p:cNvPr>
          <p:cNvSpPr>
            <a:spLocks noGrp="1"/>
          </p:cNvSpPr>
          <p:nvPr/>
        </p:nvSpPr>
        <p:spPr>
          <a:xfrm>
            <a:off x="293141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044681F4-E2AB-45C8-BDF2-356E15912DEC}"/>
              </a:ext>
            </a:extLst>
          </p:cNvPr>
          <p:cNvSpPr>
            <a:spLocks noGrp="1"/>
          </p:cNvSpPr>
          <p:nvPr/>
        </p:nvSpPr>
        <p:spPr>
          <a:xfrm>
            <a:off x="304571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CBDCC709-3320-4A54-BD3F-8D70FC583EFB}"/>
              </a:ext>
            </a:extLst>
          </p:cNvPr>
          <p:cNvSpPr>
            <a:spLocks noGrp="1"/>
          </p:cNvSpPr>
          <p:nvPr/>
        </p:nvSpPr>
        <p:spPr>
          <a:xfrm>
            <a:off x="3045714" y="2333625"/>
            <a:ext cx="1943100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422A299B-E551-4109-B092-4511E280477B}"/>
              </a:ext>
            </a:extLst>
          </p:cNvPr>
          <p:cNvSpPr>
            <a:spLocks noGrp="1"/>
          </p:cNvSpPr>
          <p:nvPr/>
        </p:nvSpPr>
        <p:spPr>
          <a:xfrm>
            <a:off x="319811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97E44E1-0F2B-48D6-AE2D-3578C5F762D8}"/>
              </a:ext>
            </a:extLst>
          </p:cNvPr>
          <p:cNvSpPr>
            <a:spLocks noGrp="1"/>
          </p:cNvSpPr>
          <p:nvPr/>
        </p:nvSpPr>
        <p:spPr>
          <a:xfrm>
            <a:off x="339852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Validar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3E5A99F-8576-4CA2-A5BA-C509829B7083}"/>
              </a:ext>
            </a:extLst>
          </p:cNvPr>
          <p:cNvSpPr>
            <a:spLocks noGrp="1"/>
          </p:cNvSpPr>
          <p:nvPr/>
        </p:nvSpPr>
        <p:spPr>
          <a:xfrm>
            <a:off x="312572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Calcula faltantes, creados y conflictos.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B6F3E7A-F33E-444D-BDDD-F24F015ADF13}"/>
              </a:ext>
            </a:extLst>
          </p:cNvPr>
          <p:cNvSpPr>
            <a:spLocks noGrp="1"/>
          </p:cNvSpPr>
          <p:nvPr/>
        </p:nvSpPr>
        <p:spPr>
          <a:xfrm>
            <a:off x="508406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EF41AE89-E103-4C2B-ABA8-BC5149277AED}"/>
              </a:ext>
            </a:extLst>
          </p:cNvPr>
          <p:cNvSpPr>
            <a:spLocks noGrp="1"/>
          </p:cNvSpPr>
          <p:nvPr/>
        </p:nvSpPr>
        <p:spPr>
          <a:xfrm>
            <a:off x="519836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0449C2C-CD96-4EE2-A69D-12F23B9CA97A}"/>
              </a:ext>
            </a:extLst>
          </p:cNvPr>
          <p:cNvSpPr>
            <a:spLocks noGrp="1"/>
          </p:cNvSpPr>
          <p:nvPr/>
        </p:nvSpPr>
        <p:spPr>
          <a:xfrm>
            <a:off x="5198364" y="2333625"/>
            <a:ext cx="1943100" cy="66675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352BF96-F5DC-4D4D-B08A-605E88154B23}"/>
              </a:ext>
            </a:extLst>
          </p:cNvPr>
          <p:cNvSpPr>
            <a:spLocks noGrp="1"/>
          </p:cNvSpPr>
          <p:nvPr/>
        </p:nvSpPr>
        <p:spPr>
          <a:xfrm>
            <a:off x="535076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1ADFB0C8-14E7-4CB3-A4F7-DAAEA5524843}"/>
              </a:ext>
            </a:extLst>
          </p:cNvPr>
          <p:cNvSpPr>
            <a:spLocks noGrp="1"/>
          </p:cNvSpPr>
          <p:nvPr/>
        </p:nvSpPr>
        <p:spPr>
          <a:xfrm>
            <a:off x="555117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Generar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AF4B9F70-8584-4037-A6ED-565808FF3B8F}"/>
              </a:ext>
            </a:extLst>
          </p:cNvPr>
          <p:cNvSpPr>
            <a:spLocks noGrp="1"/>
          </p:cNvSpPr>
          <p:nvPr/>
        </p:nvSpPr>
        <p:spPr>
          <a:xfrm>
            <a:off x="527837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Vuelve a validar y procesa solo FALTANTE.</a:t>
            </a:r>
          </a:p>
        </p:txBody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A7B019C2-6117-4722-A41C-BB77F139E6CC}"/>
              </a:ext>
            </a:extLst>
          </p:cNvPr>
          <p:cNvSpPr>
            <a:spLocks noGrp="1"/>
          </p:cNvSpPr>
          <p:nvPr/>
        </p:nvSpPr>
        <p:spPr>
          <a:xfrm>
            <a:off x="723671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23" name="Rectángulo redondeado 22">
            <a:extLst>
              <a:ext uri="{FF2B5EF4-FFF2-40B4-BE49-F238E27FC236}">
                <a16:creationId xmlns:a16="http://schemas.microsoft.com/office/drawing/2014/main" id="{7216F404-8874-4CD7-8B0C-A6917A5D9943}"/>
              </a:ext>
            </a:extLst>
          </p:cNvPr>
          <p:cNvSpPr>
            <a:spLocks noGrp="1"/>
          </p:cNvSpPr>
          <p:nvPr/>
        </p:nvSpPr>
        <p:spPr>
          <a:xfrm>
            <a:off x="735101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1293BF2-B288-4EC1-B4AE-CC44D0A7766D}"/>
              </a:ext>
            </a:extLst>
          </p:cNvPr>
          <p:cNvSpPr>
            <a:spLocks noGrp="1"/>
          </p:cNvSpPr>
          <p:nvPr/>
        </p:nvSpPr>
        <p:spPr>
          <a:xfrm>
            <a:off x="7351014" y="2333625"/>
            <a:ext cx="1943100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3A8AC06B-1FF9-431F-8E9E-BE7564582B63}"/>
              </a:ext>
            </a:extLst>
          </p:cNvPr>
          <p:cNvSpPr>
            <a:spLocks noGrp="1"/>
          </p:cNvSpPr>
          <p:nvPr/>
        </p:nvSpPr>
        <p:spPr>
          <a:xfrm>
            <a:off x="750341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B3F0A26A-8CAF-4D9C-A183-05BA1B258488}"/>
              </a:ext>
            </a:extLst>
          </p:cNvPr>
          <p:cNvSpPr>
            <a:spLocks noGrp="1"/>
          </p:cNvSpPr>
          <p:nvPr/>
        </p:nvSpPr>
        <p:spPr>
          <a:xfrm>
            <a:off x="770382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Registrar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70B26699-9B9A-4080-8567-9755CA1AB24A}"/>
              </a:ext>
            </a:extLst>
          </p:cNvPr>
          <p:cNvSpPr>
            <a:spLocks noGrp="1"/>
          </p:cNvSpPr>
          <p:nvPr/>
        </p:nvSpPr>
        <p:spPr>
          <a:xfrm>
            <a:off x="743102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Guarda ejecuciones, ítems y rutas en BD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5F3B58D8-3575-4D9F-89BE-E8582492E4FB}"/>
              </a:ext>
            </a:extLst>
          </p:cNvPr>
          <p:cNvSpPr>
            <a:spLocks noGrp="1"/>
          </p:cNvSpPr>
          <p:nvPr/>
        </p:nvSpPr>
        <p:spPr>
          <a:xfrm>
            <a:off x="9389364" y="29146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9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&gt;</a:t>
            </a:r>
          </a:p>
        </p:txBody>
      </p:sp>
      <p:sp>
        <p:nvSpPr>
          <p:cNvPr id="29" name="Rectángulo redondeado 28">
            <a:extLst>
              <a:ext uri="{FF2B5EF4-FFF2-40B4-BE49-F238E27FC236}">
                <a16:creationId xmlns:a16="http://schemas.microsoft.com/office/drawing/2014/main" id="{6437BC32-ACD0-41FE-A5D3-2A94358F1470}"/>
              </a:ext>
            </a:extLst>
          </p:cNvPr>
          <p:cNvSpPr>
            <a:spLocks noGrp="1"/>
          </p:cNvSpPr>
          <p:nvPr/>
        </p:nvSpPr>
        <p:spPr>
          <a:xfrm>
            <a:off x="9503664" y="2333625"/>
            <a:ext cx="1943100" cy="1562100"/>
          </a:xfrm>
          <a:prstGeom prst="roundRect">
            <a:avLst>
              <a:gd name="adj" fmla="val 487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E5D3CBFF-84FD-46CE-A61C-59DBC93E1F9F}"/>
              </a:ext>
            </a:extLst>
          </p:cNvPr>
          <p:cNvSpPr>
            <a:spLocks noGrp="1"/>
          </p:cNvSpPr>
          <p:nvPr/>
        </p:nvSpPr>
        <p:spPr>
          <a:xfrm>
            <a:off x="9503664" y="2333625"/>
            <a:ext cx="1943100" cy="66675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CA38DC1A-C4C4-4E3E-A54D-C99A6E332350}"/>
              </a:ext>
            </a:extLst>
          </p:cNvPr>
          <p:cNvSpPr>
            <a:spLocks noGrp="1"/>
          </p:cNvSpPr>
          <p:nvPr/>
        </p:nvSpPr>
        <p:spPr>
          <a:xfrm>
            <a:off x="9656064" y="2571750"/>
            <a:ext cx="419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2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22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39ABCEFE-865E-4135-86C2-5ED4447F41E4}"/>
              </a:ext>
            </a:extLst>
          </p:cNvPr>
          <p:cNvSpPr>
            <a:spLocks noGrp="1"/>
          </p:cNvSpPr>
          <p:nvPr/>
        </p:nvSpPr>
        <p:spPr>
          <a:xfrm>
            <a:off x="9856470" y="2584704"/>
            <a:ext cx="114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Imprimir</a:t>
            </a:r>
          </a:p>
        </p:txBody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9036A492-D76E-4F53-AE44-539BCC95FFED}"/>
              </a:ext>
            </a:extLst>
          </p:cNvPr>
          <p:cNvSpPr>
            <a:spLocks noGrp="1"/>
          </p:cNvSpPr>
          <p:nvPr/>
        </p:nvSpPr>
        <p:spPr>
          <a:xfrm>
            <a:off x="9583674" y="2950463"/>
            <a:ext cx="1765554" cy="62141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Revisa cola de impresión (EPSON), confirma, usa </a:t>
            </a:r>
            <a:r>
              <a:rPr lang="es-ES_tradnl" sz="1200" dirty="0" err="1">
                <a:solidFill>
                  <a:srgbClr val="AEB4BF"/>
                </a:solidFill>
              </a:rPr>
              <a:t>lp</a:t>
            </a:r>
            <a:r>
              <a:rPr lang="es-ES_tradnl" sz="1200" dirty="0">
                <a:solidFill>
                  <a:srgbClr val="AEB4BF"/>
                </a:solidFill>
              </a:rPr>
              <a:t> y marca impreso.</a:t>
            </a:r>
          </a:p>
        </p:txBody>
      </p:sp>
      <p:sp>
        <p:nvSpPr>
          <p:cNvPr id="34" name="Rectángulo redondeado 33">
            <a:extLst>
              <a:ext uri="{FF2B5EF4-FFF2-40B4-BE49-F238E27FC236}">
                <a16:creationId xmlns:a16="http://schemas.microsoft.com/office/drawing/2014/main" id="{2FA43405-3CEA-4218-A11A-10F4CAA2F392}"/>
              </a:ext>
            </a:extLst>
          </p:cNvPr>
          <p:cNvSpPr>
            <a:spLocks noGrp="1"/>
          </p:cNvSpPr>
          <p:nvPr/>
        </p:nvSpPr>
        <p:spPr>
          <a:xfrm>
            <a:off x="3122676" y="4838700"/>
            <a:ext cx="2697480" cy="953453"/>
          </a:xfrm>
          <a:prstGeom prst="roundRect">
            <a:avLst>
              <a:gd name="adj" fmla="val 10256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5" name="Rectángulo 34">
            <a:extLst>
              <a:ext uri="{FF2B5EF4-FFF2-40B4-BE49-F238E27FC236}">
                <a16:creationId xmlns:a16="http://schemas.microsoft.com/office/drawing/2014/main" id="{11A8C317-2CA6-4CFE-9B78-C6FD21C74108}"/>
              </a:ext>
            </a:extLst>
          </p:cNvPr>
          <p:cNvSpPr>
            <a:spLocks noGrp="1"/>
          </p:cNvSpPr>
          <p:nvPr/>
        </p:nvSpPr>
        <p:spPr>
          <a:xfrm>
            <a:off x="3122676" y="4838702"/>
            <a:ext cx="45719" cy="953451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639306B0-B599-490E-A6DD-B1BE39476291}"/>
              </a:ext>
            </a:extLst>
          </p:cNvPr>
          <p:cNvSpPr>
            <a:spLocks noGrp="1"/>
          </p:cNvSpPr>
          <p:nvPr/>
        </p:nvSpPr>
        <p:spPr>
          <a:xfrm>
            <a:off x="3294126" y="4952144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Validar no escribe</a:t>
            </a:r>
          </a:p>
        </p:txBody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D04B5D5C-706D-423D-80AE-32C53694F664}"/>
              </a:ext>
            </a:extLst>
          </p:cNvPr>
          <p:cNvSpPr>
            <a:spLocks noGrp="1"/>
          </p:cNvSpPr>
          <p:nvPr/>
        </p:nvSpPr>
        <p:spPr>
          <a:xfrm>
            <a:off x="3294126" y="5256944"/>
            <a:ext cx="2247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No crea </a:t>
            </a:r>
            <a:r>
              <a:rPr lang="es-ES_tradnl" sz="1200" dirty="0" err="1">
                <a:solidFill>
                  <a:srgbClr val="AEB4BF"/>
                </a:solidFill>
              </a:rPr>
              <a:t>PDFs</a:t>
            </a:r>
            <a:r>
              <a:rPr lang="es-ES_tradnl" sz="1200" dirty="0">
                <a:solidFill>
                  <a:srgbClr val="AEB4BF"/>
                </a:solidFill>
              </a:rPr>
              <a:t>, ejecuciones ni </a:t>
            </a:r>
            <a:r>
              <a:rPr lang="es-ES_tradnl" sz="1200" dirty="0" err="1">
                <a:solidFill>
                  <a:srgbClr val="AEB4BF"/>
                </a:solidFill>
              </a:rPr>
              <a:t>items</a:t>
            </a:r>
            <a:r>
              <a:rPr lang="es-ES_tradnl" sz="1200" dirty="0">
                <a:solidFill>
                  <a:srgbClr val="AEB4BF"/>
                </a:solidFill>
              </a:rPr>
              <a:t>.</a:t>
            </a:r>
          </a:p>
        </p:txBody>
      </p:sp>
      <p:sp>
        <p:nvSpPr>
          <p:cNvPr id="38" name="Rectángulo redondeado 37">
            <a:extLst>
              <a:ext uri="{FF2B5EF4-FFF2-40B4-BE49-F238E27FC236}">
                <a16:creationId xmlns:a16="http://schemas.microsoft.com/office/drawing/2014/main" id="{27FB3A19-50FC-4BEA-A9F5-FEE065F5E389}"/>
              </a:ext>
            </a:extLst>
          </p:cNvPr>
          <p:cNvSpPr>
            <a:spLocks noGrp="1"/>
          </p:cNvSpPr>
          <p:nvPr/>
        </p:nvSpPr>
        <p:spPr>
          <a:xfrm>
            <a:off x="6551676" y="4838700"/>
            <a:ext cx="2697480" cy="953453"/>
          </a:xfrm>
          <a:prstGeom prst="roundRect">
            <a:avLst>
              <a:gd name="adj" fmla="val 10256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39" name="Rectángulo 38">
            <a:extLst>
              <a:ext uri="{FF2B5EF4-FFF2-40B4-BE49-F238E27FC236}">
                <a16:creationId xmlns:a16="http://schemas.microsoft.com/office/drawing/2014/main" id="{D0576D41-A745-4C21-881A-F254828CCBC8}"/>
              </a:ext>
            </a:extLst>
          </p:cNvPr>
          <p:cNvSpPr>
            <a:spLocks noGrp="1"/>
          </p:cNvSpPr>
          <p:nvPr/>
        </p:nvSpPr>
        <p:spPr>
          <a:xfrm>
            <a:off x="6551676" y="4838702"/>
            <a:ext cx="45719" cy="953451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708A252B-66C9-4A0A-9208-208C436D5870}"/>
              </a:ext>
            </a:extLst>
          </p:cNvPr>
          <p:cNvSpPr>
            <a:spLocks noGrp="1"/>
          </p:cNvSpPr>
          <p:nvPr/>
        </p:nvSpPr>
        <p:spPr>
          <a:xfrm>
            <a:off x="6723126" y="4952144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b="1" dirty="0">
                <a:solidFill>
                  <a:schemeClr val="bg1"/>
                </a:solidFill>
              </a:rPr>
              <a:t>No reemplaza </a:t>
            </a:r>
            <a:r>
              <a:rPr lang="es-ES_tradnl" b="1" dirty="0" err="1">
                <a:solidFill>
                  <a:schemeClr val="bg1"/>
                </a:solidFill>
              </a:rPr>
              <a:t>PDFs</a:t>
            </a:r>
            <a:endParaRPr lang="es-ES_tradnl" b="1" dirty="0">
              <a:solidFill>
                <a:schemeClr val="bg1"/>
              </a:solidFill>
            </a:endParaRPr>
          </a:p>
        </p:txBody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3995EDB9-96BA-4B51-99D9-519F503AEC39}"/>
              </a:ext>
            </a:extLst>
          </p:cNvPr>
          <p:cNvSpPr>
            <a:spLocks noGrp="1"/>
          </p:cNvSpPr>
          <p:nvPr/>
        </p:nvSpPr>
        <p:spPr>
          <a:xfrm>
            <a:off x="6723126" y="5256944"/>
            <a:ext cx="2247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200" dirty="0">
                <a:solidFill>
                  <a:srgbClr val="AEB4BF"/>
                </a:solidFill>
              </a:rPr>
              <a:t>Un archivo existente se reporta y se omite.</a:t>
            </a: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03329A19-1645-4B90-A0F9-9DFAC96933E4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47" name="Rectángulo 46">
            <a:extLst>
              <a:ext uri="{FF2B5EF4-FFF2-40B4-BE49-F238E27FC236}">
                <a16:creationId xmlns:a16="http://schemas.microsoft.com/office/drawing/2014/main" id="{21AC1C3C-0F92-4B2C-B77D-97B6F1F09FFD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52" name="Rectángulo 51">
            <a:extLst>
              <a:ext uri="{FF2B5EF4-FFF2-40B4-BE49-F238E27FC236}">
                <a16:creationId xmlns:a16="http://schemas.microsoft.com/office/drawing/2014/main" id="{08EA8A86-83A3-9E96-C469-D35747D6431F}"/>
              </a:ext>
            </a:extLst>
          </p:cNvPr>
          <p:cNvSpPr>
            <a:spLocks noGrp="1"/>
          </p:cNvSpPr>
          <p:nvPr/>
        </p:nvSpPr>
        <p:spPr>
          <a:xfrm>
            <a:off x="4591050" y="-1738312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 dirty="0">
                <a:solidFill>
                  <a:srgbClr val="AEB4BF"/>
                </a:solidFill>
              </a:rPr>
              <a:t>PROBLEMA OPERATIVO</a:t>
            </a:r>
          </a:p>
        </p:txBody>
      </p:sp>
      <p:sp>
        <p:nvSpPr>
          <p:cNvPr id="53" name="Rectángulo 52">
            <a:extLst>
              <a:ext uri="{FF2B5EF4-FFF2-40B4-BE49-F238E27FC236}">
                <a16:creationId xmlns:a16="http://schemas.microsoft.com/office/drawing/2014/main" id="{F7FF63FB-253A-3783-FE66-F173D25EE724}"/>
              </a:ext>
            </a:extLst>
          </p:cNvPr>
          <p:cNvSpPr>
            <a:spLocks noGrp="1"/>
          </p:cNvSpPr>
          <p:nvPr/>
        </p:nvSpPr>
        <p:spPr>
          <a:xfrm>
            <a:off x="4552950" y="-1547812"/>
            <a:ext cx="9791123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>
                <a:solidFill>
                  <a:schemeClr val="bg1"/>
                </a:solidFill>
              </a:rPr>
              <a:t>Sin mockup trazable, revisar se vuelve una cadena manual.</a:t>
            </a:r>
          </a:p>
        </p:txBody>
      </p:sp>
      <p:sp>
        <p:nvSpPr>
          <p:cNvPr id="54" name="Rectángulo 53">
            <a:extLst>
              <a:ext uri="{FF2B5EF4-FFF2-40B4-BE49-F238E27FC236}">
                <a16:creationId xmlns:a16="http://schemas.microsoft.com/office/drawing/2014/main" id="{6DA1F866-4EF8-F9EB-565C-E9AF993D7D59}"/>
              </a:ext>
            </a:extLst>
          </p:cNvPr>
          <p:cNvSpPr>
            <a:spLocks noGrp="1"/>
          </p:cNvSpPr>
          <p:nvPr/>
        </p:nvSpPr>
        <p:spPr>
          <a:xfrm>
            <a:off x="4591048" y="-928687"/>
            <a:ext cx="924473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>
                <a:solidFill>
                  <a:srgbClr val="AEB4BF"/>
                </a:solidFill>
              </a:rPr>
              <a:t>El operador debe unir Excel, equipo, style, plantilla base, carpeta de salida y estado de impresión sin una evidencia visual única.</a:t>
            </a:r>
          </a:p>
        </p:txBody>
      </p:sp>
    </p:spTree>
    <p:extLst>
      <p:ext uri="{BB962C8B-B14F-4D97-AF65-F5344CB8AC3E}">
        <p14:creationId xmlns:p14="http://schemas.microsoft.com/office/powerpoint/2010/main" val="9319631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ángulo 21">
            <a:extLst>
              <a:ext uri="{FF2B5EF4-FFF2-40B4-BE49-F238E27FC236}">
                <a16:creationId xmlns:a16="http://schemas.microsoft.com/office/drawing/2014/main" id="{759657A3-77F4-4581-B81E-5B620681090D}"/>
              </a:ext>
            </a:extLst>
          </p:cNvPr>
          <p:cNvSpPr>
            <a:spLocks noGrp="1"/>
          </p:cNvSpPr>
          <p:nvPr/>
        </p:nvSpPr>
        <p:spPr>
          <a:xfrm>
            <a:off x="490534" y="390524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>
                <a:solidFill>
                  <a:srgbClr val="AEB4BF"/>
                </a:solidFill>
              </a:rPr>
              <a:t>EXCEL Y VARIANTES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2955AB1-19D4-48D9-8D2C-74F5B94BE7C3}"/>
              </a:ext>
            </a:extLst>
          </p:cNvPr>
          <p:cNvSpPr>
            <a:spLocks noGrp="1"/>
          </p:cNvSpPr>
          <p:nvPr/>
        </p:nvSpPr>
        <p:spPr>
          <a:xfrm>
            <a:off x="490534" y="638174"/>
            <a:ext cx="102679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 dirty="0">
                <a:solidFill>
                  <a:schemeClr val="bg1"/>
                </a:solidFill>
              </a:rPr>
              <a:t>La sección activa define que Excel es valido.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3640BFC-B8AA-49E0-9222-59EBEB236A2E}"/>
              </a:ext>
            </a:extLst>
          </p:cNvPr>
          <p:cNvSpPr>
            <a:spLocks noGrp="1"/>
          </p:cNvSpPr>
          <p:nvPr/>
        </p:nvSpPr>
        <p:spPr>
          <a:xfrm>
            <a:off x="495296" y="1147761"/>
            <a:ext cx="89344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 dirty="0">
                <a:solidFill>
                  <a:srgbClr val="AEB4BF"/>
                </a:solidFill>
              </a:rPr>
              <a:t>El panel no cambia de modo automáticamente.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838741D6-00DA-44E1-B080-95BE6D02B0F7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4E3D34E5-A028-401E-BBA1-C2C914CBB6E1}"/>
              </a:ext>
            </a:extLst>
          </p:cNvPr>
          <p:cNvSpPr>
            <a:spLocks noGrp="1"/>
          </p:cNvSpPr>
          <p:nvPr/>
        </p:nvSpPr>
        <p:spPr>
          <a:xfrm>
            <a:off x="666750" y="2143125"/>
            <a:ext cx="4953000" cy="3286125"/>
          </a:xfrm>
          <a:prstGeom prst="roundRect">
            <a:avLst>
              <a:gd name="adj" fmla="val 2319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D159831-CE59-4A80-9C3D-26BF32BB7E3F}"/>
              </a:ext>
            </a:extLst>
          </p:cNvPr>
          <p:cNvSpPr>
            <a:spLocks noGrp="1"/>
          </p:cNvSpPr>
          <p:nvPr/>
        </p:nvSpPr>
        <p:spPr>
          <a:xfrm>
            <a:off x="666750" y="2143125"/>
            <a:ext cx="4953000" cy="762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D3C6E21-31B1-4BD5-9659-8FE85F4BC335}"/>
              </a:ext>
            </a:extLst>
          </p:cNvPr>
          <p:cNvSpPr>
            <a:spLocks noGrp="1"/>
          </p:cNvSpPr>
          <p:nvPr/>
        </p:nvSpPr>
        <p:spPr>
          <a:xfrm>
            <a:off x="952500" y="2457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025" b="1" dirty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Personalizadas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1B2C4C69-B8FD-4325-A3B1-DF386120A7B7}"/>
              </a:ext>
            </a:extLst>
          </p:cNvPr>
          <p:cNvSpPr>
            <a:spLocks noGrp="1"/>
          </p:cNvSpPr>
          <p:nvPr/>
        </p:nvSpPr>
        <p:spPr>
          <a:xfrm>
            <a:off x="952500" y="2952750"/>
            <a:ext cx="1485900" cy="266700"/>
          </a:xfrm>
          <a:prstGeom prst="roundRect">
            <a:avLst>
              <a:gd name="adj" fmla="val 42857"/>
            </a:avLst>
          </a:prstGeom>
          <a:solidFill>
            <a:srgbClr val="BD1F36"/>
          </a:solidFill>
          <a:ln w="9525">
            <a:solidFill>
              <a:srgbClr val="BD1F36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0FF421F3-F171-485F-8802-6A8555A44EAE}"/>
              </a:ext>
            </a:extLst>
          </p:cNvPr>
          <p:cNvSpPr>
            <a:spLocks noGrp="1"/>
          </p:cNvSpPr>
          <p:nvPr/>
        </p:nvSpPr>
        <p:spPr>
          <a:xfrm>
            <a:off x="952500" y="3009900"/>
            <a:ext cx="14859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Excel con token OD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9AE388B-EFE3-431F-8EAB-4C054CCA3E0E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400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Lee columnas fijas: </a:t>
            </a:r>
            <a:r>
              <a:rPr lang="es-ES_tradnl" sz="1200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Ship</a:t>
            </a: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s-ES_tradnl" sz="1200" b="0" dirty="0" err="1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Order</a:t>
            </a:r>
            <a:r>
              <a:rPr lang="es-ES_tradnl" sz="1200" b="0" dirty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, WO, Style, Color/Equipo, Talla, Piezas, Apellido y Numero.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62ABA596-C883-4ABE-9EDD-B3233CF1B869}"/>
              </a:ext>
            </a:extLst>
          </p:cNvPr>
          <p:cNvSpPr>
            <a:spLocks noGrp="1"/>
          </p:cNvSpPr>
          <p:nvPr/>
        </p:nvSpPr>
        <p:spPr>
          <a:xfrm>
            <a:off x="952500" y="4400550"/>
            <a:ext cx="4000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Consolida por Ship Order + WO + Style + Equipo y combina tallas antes del filtro.</a:t>
            </a:r>
          </a:p>
        </p:txBody>
      </p:sp>
      <p:sp>
        <p:nvSpPr>
          <p:cNvPr id="12" name="Rectángulo redondeado 11">
            <a:extLst>
              <a:ext uri="{FF2B5EF4-FFF2-40B4-BE49-F238E27FC236}">
                <a16:creationId xmlns:a16="http://schemas.microsoft.com/office/drawing/2014/main" id="{4E50B12D-267A-4B84-9FD1-5FF57D6752FE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953000" cy="4191000"/>
          </a:xfrm>
          <a:prstGeom prst="roundRect">
            <a:avLst>
              <a:gd name="adj" fmla="val 1818"/>
            </a:avLst>
          </a:prstGeom>
          <a:solidFill>
            <a:srgbClr val="292B30"/>
          </a:solidFill>
          <a:ln w="9525">
            <a:solidFill>
              <a:srgbClr val="444952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0190FFF8-0DF4-4703-BD97-FB1102B9F838}"/>
              </a:ext>
            </a:extLst>
          </p:cNvPr>
          <p:cNvSpPr>
            <a:spLocks noGrp="1"/>
          </p:cNvSpPr>
          <p:nvPr/>
        </p:nvSpPr>
        <p:spPr>
          <a:xfrm>
            <a:off x="6572250" y="1619250"/>
            <a:ext cx="4953000" cy="7620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85C90D68-E25F-41BD-B47C-E7E143FE0006}"/>
              </a:ext>
            </a:extLst>
          </p:cNvPr>
          <p:cNvSpPr>
            <a:spLocks noGrp="1"/>
          </p:cNvSpPr>
          <p:nvPr/>
        </p:nvSpPr>
        <p:spPr>
          <a:xfrm>
            <a:off x="6858000" y="1933575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0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0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Genericas</a:t>
            </a:r>
          </a:p>
        </p:txBody>
      </p:sp>
      <p:sp>
        <p:nvSpPr>
          <p:cNvPr id="15" name="Rectángulo redondeado 14">
            <a:extLst>
              <a:ext uri="{FF2B5EF4-FFF2-40B4-BE49-F238E27FC236}">
                <a16:creationId xmlns:a16="http://schemas.microsoft.com/office/drawing/2014/main" id="{576A0538-0B8D-4995-BC4E-B439C9986615}"/>
              </a:ext>
            </a:extLst>
          </p:cNvPr>
          <p:cNvSpPr>
            <a:spLocks noGrp="1"/>
          </p:cNvSpPr>
          <p:nvPr/>
        </p:nvSpPr>
        <p:spPr>
          <a:xfrm>
            <a:off x="6858000" y="2428875"/>
            <a:ext cx="2209800" cy="266700"/>
          </a:xfrm>
          <a:prstGeom prst="roundRect">
            <a:avLst>
              <a:gd name="adj" fmla="val 42857"/>
            </a:avLst>
          </a:prstGeom>
          <a:solidFill>
            <a:srgbClr val="2D7FF9"/>
          </a:solidFill>
          <a:ln w="9525">
            <a:solidFill>
              <a:srgbClr val="2D7FF9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EAAE713-17C4-4400-B987-C3F477225F2A}"/>
              </a:ext>
            </a:extLst>
          </p:cNvPr>
          <p:cNvSpPr>
            <a:spLocks noGrp="1"/>
          </p:cNvSpPr>
          <p:nvPr/>
        </p:nvSpPr>
        <p:spPr>
          <a:xfrm>
            <a:off x="6858000" y="2486025"/>
            <a:ext cx="2209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788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lang="es-ES_tradnl" sz="788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 / IH / TB / AS / SS / JR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F70C4EA2-0296-4A94-9802-9BA79CEE1E02}"/>
              </a:ext>
            </a:extLst>
          </p:cNvPr>
          <p:cNvSpPr>
            <a:spLocks noGrp="1"/>
          </p:cNvSpPr>
          <p:nvPr/>
        </p:nvSpPr>
        <p:spPr>
          <a:xfrm>
            <a:off x="6858000" y="2914650"/>
            <a:ext cx="4000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Busca encabezados WO, Style, Roster, cantidad, equipo y Emb dentro de las primeras 25 filas.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B1946D3-93B3-4171-A508-3AD6F984EBB6}"/>
              </a:ext>
            </a:extLst>
          </p:cNvPr>
          <p:cNvSpPr>
            <a:spLocks noGrp="1"/>
          </p:cNvSpPr>
          <p:nvPr/>
        </p:nvSpPr>
        <p:spPr>
          <a:xfrm>
            <a:off x="6858000" y="3886200"/>
            <a:ext cx="4000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A1500 y Y1500 representan shorts. Las variantes activas se leen desde rmc_nike_style_variants.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941C7435-B086-4434-9023-8933A3915DF3}"/>
              </a:ext>
            </a:extLst>
          </p:cNvPr>
          <p:cNvSpPr>
            <a:spLocks noGrp="1"/>
          </p:cNvSpPr>
          <p:nvPr/>
        </p:nvSpPr>
        <p:spPr>
          <a:xfrm>
            <a:off x="6858000" y="4857750"/>
            <a:ext cx="400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buNone/>
              <a:defRPr sz="12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La clave usa WO + Roster + Style + Equipo; no usa apellido ni numero.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9E13D390-2B8C-4126-AD6E-C625EA898EDA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B05D9FF1-E680-44E4-ACF6-E256888881A7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02CD74F-9B8D-345B-3637-211F8F35C535}"/>
              </a:ext>
            </a:extLst>
          </p:cNvPr>
          <p:cNvSpPr>
            <a:spLocks noGrp="1"/>
          </p:cNvSpPr>
          <p:nvPr/>
        </p:nvSpPr>
        <p:spPr>
          <a:xfrm>
            <a:off x="833437" y="-1381125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975" b="1">
                <a:solidFill>
                  <a:srgbClr val="AEB4BF"/>
                </a:solidFill>
              </a:rPr>
              <a:t>PROBLEMA OPERATIVO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3EB1063-C4AD-CAC8-509A-8435B7236263}"/>
              </a:ext>
            </a:extLst>
          </p:cNvPr>
          <p:cNvSpPr>
            <a:spLocks noGrp="1"/>
          </p:cNvSpPr>
          <p:nvPr/>
        </p:nvSpPr>
        <p:spPr>
          <a:xfrm>
            <a:off x="833436" y="-1133475"/>
            <a:ext cx="9791123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es-ES_tradnl" sz="2700" b="1">
                <a:solidFill>
                  <a:schemeClr val="bg1"/>
                </a:solidFill>
              </a:rPr>
              <a:t>Sin mockup trazable, revisar se vuelve una cadena manual.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6075E4E3-91C3-F630-9E80-87092CB1EB2A}"/>
              </a:ext>
            </a:extLst>
          </p:cNvPr>
          <p:cNvSpPr>
            <a:spLocks noGrp="1"/>
          </p:cNvSpPr>
          <p:nvPr/>
        </p:nvSpPr>
        <p:spPr>
          <a:xfrm>
            <a:off x="833435" y="-571500"/>
            <a:ext cx="924473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r>
              <a:rPr lang="es-ES_tradnl" sz="1350">
                <a:solidFill>
                  <a:srgbClr val="AEB4BF"/>
                </a:solidFill>
              </a:rPr>
              <a:t>El operador debe unir Excel, equipo, style, plantilla base, carpeta de salida y estado de impresión sin una evidencia visual única.</a:t>
            </a:r>
          </a:p>
        </p:txBody>
      </p:sp>
    </p:spTree>
    <p:extLst>
      <p:ext uri="{BB962C8B-B14F-4D97-AF65-F5344CB8AC3E}">
        <p14:creationId xmlns:p14="http://schemas.microsoft.com/office/powerpoint/2010/main" val="20827257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ángulo 44">
            <a:extLst>
              <a:ext uri="{FF2B5EF4-FFF2-40B4-BE49-F238E27FC236}">
                <a16:creationId xmlns:a16="http://schemas.microsoft.com/office/drawing/2014/main" id="{C00DCB57-680E-4A32-A781-B6DB64AC469E}"/>
              </a:ext>
            </a:extLst>
          </p:cNvPr>
          <p:cNvSpPr>
            <a:spLocks noGrp="1"/>
          </p:cNvSpPr>
          <p:nvPr/>
        </p:nvSpPr>
        <p:spPr>
          <a:xfrm>
            <a:off x="590550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7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VALIDACION INCREMENTAL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F7EE367-ED5E-4BFA-B1F9-463AA7301410}"/>
              </a:ext>
            </a:extLst>
          </p:cNvPr>
          <p:cNvSpPr>
            <a:spLocks noGrp="1"/>
          </p:cNvSpPr>
          <p:nvPr/>
        </p:nvSpPr>
        <p:spPr>
          <a:xfrm>
            <a:off x="590550" y="666750"/>
            <a:ext cx="723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3000"/>
              </a:lnSpc>
              <a:buNone/>
              <a:defRPr sz="23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3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Validar convierte cada pedido en un estado accionable.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D8E55D6-9DEB-4923-9BAA-2506AE83DA5D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La herramienta compara el archivo esperado y la clave SQLite antes de decidir si algo puede generarse.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0933924-3C18-42D7-9AC0-D82754EA0411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AF45404E-E852-4F8C-8E6C-552DB4E1F689}"/>
              </a:ext>
            </a:extLst>
          </p:cNvPr>
          <p:cNvSpPr>
            <a:spLocks noGrp="1"/>
          </p:cNvSpPr>
          <p:nvPr/>
        </p:nvSpPr>
        <p:spPr>
          <a:xfrm>
            <a:off x="742950" y="2114550"/>
            <a:ext cx="7048500" cy="3448050"/>
          </a:xfrm>
          <a:prstGeom prst="roundRect">
            <a:avLst>
              <a:gd name="adj" fmla="val 2210"/>
            </a:avLst>
          </a:prstGeom>
          <a:solidFill>
            <a:srgbClr val="202329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4BF78039-6225-45BD-960F-6D63FC6AE4D1}"/>
              </a:ext>
            </a:extLst>
          </p:cNvPr>
          <p:cNvSpPr>
            <a:spLocks noGrp="1"/>
          </p:cNvSpPr>
          <p:nvPr/>
        </p:nvSpPr>
        <p:spPr>
          <a:xfrm>
            <a:off x="990600" y="2371725"/>
            <a:ext cx="95250" cy="43815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4F070B9-8E7F-4ECE-8F63-1279CBF13611}"/>
              </a:ext>
            </a:extLst>
          </p:cNvPr>
          <p:cNvSpPr>
            <a:spLocks noGrp="1"/>
          </p:cNvSpPr>
          <p:nvPr/>
        </p:nvSpPr>
        <p:spPr>
          <a:xfrm>
            <a:off x="1238250" y="234315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0B26B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20B26B"/>
                </a:solidFill>
                <a:latin typeface="Calibri"/>
                <a:ea typeface="Calibri"/>
                <a:cs typeface="Calibri"/>
              </a:rPr>
              <a:t>FALTANTE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A711745A-5C4F-4EB6-8CD2-17FB2031F992}"/>
              </a:ext>
            </a:extLst>
          </p:cNvPr>
          <p:cNvSpPr>
            <a:spLocks noGrp="1"/>
          </p:cNvSpPr>
          <p:nvPr/>
        </p:nvSpPr>
        <p:spPr>
          <a:xfrm>
            <a:off x="3333750" y="23431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No existe archivo ni clave.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88F85D95-0AD5-4E3F-97F0-11BA524D1E7F}"/>
              </a:ext>
            </a:extLst>
          </p:cNvPr>
          <p:cNvSpPr>
            <a:spLocks noGrp="1"/>
          </p:cNvSpPr>
          <p:nvPr/>
        </p:nvSpPr>
        <p:spPr>
          <a:xfrm>
            <a:off x="5905500" y="23431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Puede generarse.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5D2408D-7285-4701-AED7-C2B6A3702623}"/>
              </a:ext>
            </a:extLst>
          </p:cNvPr>
          <p:cNvSpPr>
            <a:spLocks noGrp="1"/>
          </p:cNvSpPr>
          <p:nvPr/>
        </p:nvSpPr>
        <p:spPr>
          <a:xfrm>
            <a:off x="990600" y="288607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D832131-23A7-42AD-90CE-677D197281D6}"/>
              </a:ext>
            </a:extLst>
          </p:cNvPr>
          <p:cNvSpPr>
            <a:spLocks noGrp="1"/>
          </p:cNvSpPr>
          <p:nvPr/>
        </p:nvSpPr>
        <p:spPr>
          <a:xfrm>
            <a:off x="990600" y="2962275"/>
            <a:ext cx="95250" cy="438150"/>
          </a:xfrm>
          <a:prstGeom prst="rect">
            <a:avLst/>
          </a:prstGeom>
          <a:solidFill>
            <a:srgbClr val="7D8592"/>
          </a:solidFill>
          <a:ln w="0">
            <a:solidFill>
              <a:srgbClr val="7D8592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1178333A-5A8B-402C-A0F3-D6C1655C3E43}"/>
              </a:ext>
            </a:extLst>
          </p:cNvPr>
          <p:cNvSpPr>
            <a:spLocks noGrp="1"/>
          </p:cNvSpPr>
          <p:nvPr/>
        </p:nvSpPr>
        <p:spPr>
          <a:xfrm>
            <a:off x="1238250" y="293370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YA_CREADO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B26FE0F-C79F-45AD-B669-01BCDA14013B}"/>
              </a:ext>
            </a:extLst>
          </p:cNvPr>
          <p:cNvSpPr>
            <a:spLocks noGrp="1"/>
          </p:cNvSpPr>
          <p:nvPr/>
        </p:nvSpPr>
        <p:spPr>
          <a:xfrm>
            <a:off x="3333750" y="2933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Existe archivo y clave.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061DE479-6153-4324-B312-9D0590EA6A1D}"/>
              </a:ext>
            </a:extLst>
          </p:cNvPr>
          <p:cNvSpPr>
            <a:spLocks noGrp="1"/>
          </p:cNvSpPr>
          <p:nvPr/>
        </p:nvSpPr>
        <p:spPr>
          <a:xfrm>
            <a:off x="5905500" y="2933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Se omite.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30B3E1F8-C2B1-4EE2-AA2F-56C03AB4C8FC}"/>
              </a:ext>
            </a:extLst>
          </p:cNvPr>
          <p:cNvSpPr>
            <a:spLocks noGrp="1"/>
          </p:cNvSpPr>
          <p:nvPr/>
        </p:nvSpPr>
        <p:spPr>
          <a:xfrm>
            <a:off x="990600" y="347662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22CA3DCA-7838-4F79-AF97-1CBA3FD05F79}"/>
              </a:ext>
            </a:extLst>
          </p:cNvPr>
          <p:cNvSpPr>
            <a:spLocks noGrp="1"/>
          </p:cNvSpPr>
          <p:nvPr/>
        </p:nvSpPr>
        <p:spPr>
          <a:xfrm>
            <a:off x="990600" y="3552825"/>
            <a:ext cx="95250" cy="43815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786A678B-5111-4BD5-BEFC-D6CB4A69BF4B}"/>
              </a:ext>
            </a:extLst>
          </p:cNvPr>
          <p:cNvSpPr>
            <a:spLocks noGrp="1"/>
          </p:cNvSpPr>
          <p:nvPr/>
        </p:nvSpPr>
        <p:spPr>
          <a:xfrm>
            <a:off x="1238250" y="352425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C747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C747"/>
                </a:solidFill>
                <a:latin typeface="Calibri"/>
                <a:ea typeface="Calibri"/>
                <a:cs typeface="Calibri"/>
              </a:rPr>
              <a:t>ARCHIVO_SIN_REGISTRO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CC13D450-2674-427E-8736-2AF260C09EFE}"/>
              </a:ext>
            </a:extLst>
          </p:cNvPr>
          <p:cNvSpPr>
            <a:spLocks noGrp="1"/>
          </p:cNvSpPr>
          <p:nvPr/>
        </p:nvSpPr>
        <p:spPr>
          <a:xfrm>
            <a:off x="3333750" y="35242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Existe PDF, falta SQLite.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7F439E00-3694-47BE-99C6-4ED933F0E21D}"/>
              </a:ext>
            </a:extLst>
          </p:cNvPr>
          <p:cNvSpPr>
            <a:spLocks noGrp="1"/>
          </p:cNvSpPr>
          <p:nvPr/>
        </p:nvSpPr>
        <p:spPr>
          <a:xfrm>
            <a:off x="5905500" y="35242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Revision/backfill.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E0CE7C8-8E47-441D-A800-876AF554A1EA}"/>
              </a:ext>
            </a:extLst>
          </p:cNvPr>
          <p:cNvSpPr>
            <a:spLocks noGrp="1"/>
          </p:cNvSpPr>
          <p:nvPr/>
        </p:nvSpPr>
        <p:spPr>
          <a:xfrm>
            <a:off x="990600" y="406717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533986A3-18A6-4C04-BF48-49059CFDC9FB}"/>
              </a:ext>
            </a:extLst>
          </p:cNvPr>
          <p:cNvSpPr>
            <a:spLocks noGrp="1"/>
          </p:cNvSpPr>
          <p:nvPr/>
        </p:nvSpPr>
        <p:spPr>
          <a:xfrm>
            <a:off x="990600" y="4143375"/>
            <a:ext cx="95250" cy="438150"/>
          </a:xfrm>
          <a:prstGeom prst="rect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50833749-DC89-42E7-AA88-922D5B069EF8}"/>
              </a:ext>
            </a:extLst>
          </p:cNvPr>
          <p:cNvSpPr>
            <a:spLocks noGrp="1"/>
          </p:cNvSpPr>
          <p:nvPr/>
        </p:nvSpPr>
        <p:spPr>
          <a:xfrm>
            <a:off x="1238250" y="411480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28C28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28C28"/>
                </a:solidFill>
                <a:latin typeface="Calibri"/>
                <a:ea typeface="Calibri"/>
                <a:cs typeface="Calibri"/>
              </a:rPr>
              <a:t>REGISTRADO_SIN_ARCHIVO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A6CA9D49-1F82-48B1-88FC-7F8CDBD47CF8}"/>
              </a:ext>
            </a:extLst>
          </p:cNvPr>
          <p:cNvSpPr>
            <a:spLocks noGrp="1"/>
          </p:cNvSpPr>
          <p:nvPr/>
        </p:nvSpPr>
        <p:spPr>
          <a:xfrm>
            <a:off x="3333750" y="41148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Existe clave, falta PDF.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48599A92-ED64-413D-89AE-915EA5EE2202}"/>
              </a:ext>
            </a:extLst>
          </p:cNvPr>
          <p:cNvSpPr>
            <a:spLocks noGrp="1"/>
          </p:cNvSpPr>
          <p:nvPr/>
        </p:nvSpPr>
        <p:spPr>
          <a:xfrm>
            <a:off x="5905500" y="41148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Revision.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2B715AD1-92CA-4CBD-ABA9-DE4D7752D7D2}"/>
              </a:ext>
            </a:extLst>
          </p:cNvPr>
          <p:cNvSpPr>
            <a:spLocks noGrp="1"/>
          </p:cNvSpPr>
          <p:nvPr/>
        </p:nvSpPr>
        <p:spPr>
          <a:xfrm>
            <a:off x="990600" y="465772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074B9104-D719-46B3-A8EC-8FF969054697}"/>
              </a:ext>
            </a:extLst>
          </p:cNvPr>
          <p:cNvSpPr>
            <a:spLocks noGrp="1"/>
          </p:cNvSpPr>
          <p:nvPr/>
        </p:nvSpPr>
        <p:spPr>
          <a:xfrm>
            <a:off x="990600" y="4733925"/>
            <a:ext cx="95250" cy="4381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5E115135-8D07-4024-8EFB-12A025CC6174}"/>
              </a:ext>
            </a:extLst>
          </p:cNvPr>
          <p:cNvSpPr>
            <a:spLocks noGrp="1"/>
          </p:cNvSpPr>
          <p:nvPr/>
        </p:nvSpPr>
        <p:spPr>
          <a:xfrm>
            <a:off x="1238250" y="4705350"/>
            <a:ext cx="19526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BD1F3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BD1F36"/>
                </a:solidFill>
                <a:latin typeface="Calibri"/>
                <a:ea typeface="Calibri"/>
                <a:cs typeface="Calibri"/>
              </a:rPr>
              <a:t>CONFLICTO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E725A66D-EAC4-457B-8F14-8252A3AA9F25}"/>
              </a:ext>
            </a:extLst>
          </p:cNvPr>
          <p:cNvSpPr>
            <a:spLocks noGrp="1"/>
          </p:cNvSpPr>
          <p:nvPr/>
        </p:nvSpPr>
        <p:spPr>
          <a:xfrm>
            <a:off x="3333750" y="47053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Duplicado de clave o archivo.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DB208C5B-31CA-450E-8D33-2DD89A92A6A3}"/>
              </a:ext>
            </a:extLst>
          </p:cNvPr>
          <p:cNvSpPr>
            <a:spLocks noGrp="1"/>
          </p:cNvSpPr>
          <p:nvPr/>
        </p:nvSpPr>
        <p:spPr>
          <a:xfrm>
            <a:off x="5905500" y="47053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Bloquea generar.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D43C73F8-D5AF-4691-AB9C-4E0F721AC9E5}"/>
              </a:ext>
            </a:extLst>
          </p:cNvPr>
          <p:cNvSpPr>
            <a:spLocks noGrp="1"/>
          </p:cNvSpPr>
          <p:nvPr/>
        </p:nvSpPr>
        <p:spPr>
          <a:xfrm>
            <a:off x="990600" y="5248275"/>
            <a:ext cx="6286500" cy="9525"/>
          </a:xfrm>
          <a:prstGeom prst="rect">
            <a:avLst/>
          </a:prstGeom>
          <a:solidFill>
            <a:srgbClr val="3A3F47"/>
          </a:solidFill>
          <a:ln w="0">
            <a:solidFill>
              <a:srgbClr val="3A3F47"/>
            </a:solidFill>
            <a:prstDash val="solid"/>
          </a:ln>
        </p:spPr>
      </p:sp>
      <p:sp>
        <p:nvSpPr>
          <p:cNvPr id="31" name="Rectángulo redondeado 30">
            <a:extLst>
              <a:ext uri="{FF2B5EF4-FFF2-40B4-BE49-F238E27FC236}">
                <a16:creationId xmlns:a16="http://schemas.microsoft.com/office/drawing/2014/main" id="{70A7EC67-B9D1-4D02-93B6-5E22000861D5}"/>
              </a:ext>
            </a:extLst>
          </p:cNvPr>
          <p:cNvSpPr>
            <a:spLocks noGrp="1"/>
          </p:cNvSpPr>
          <p:nvPr/>
        </p:nvSpPr>
        <p:spPr>
          <a:xfrm>
            <a:off x="8477250" y="2286000"/>
            <a:ext cx="2476500" cy="895350"/>
          </a:xfrm>
          <a:prstGeom prst="roundRect">
            <a:avLst>
              <a:gd name="adj" fmla="val 8511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32" name="Rectángulo 31">
            <a:extLst>
              <a:ext uri="{FF2B5EF4-FFF2-40B4-BE49-F238E27FC236}">
                <a16:creationId xmlns:a16="http://schemas.microsoft.com/office/drawing/2014/main" id="{CEB7C3AC-7C28-4287-9225-8699EE7E4C68}"/>
              </a:ext>
            </a:extLst>
          </p:cNvPr>
          <p:cNvSpPr>
            <a:spLocks noGrp="1"/>
          </p:cNvSpPr>
          <p:nvPr/>
        </p:nvSpPr>
        <p:spPr>
          <a:xfrm>
            <a:off x="8477250" y="2286000"/>
            <a:ext cx="47625" cy="89535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33" name="Rectángulo 32">
            <a:extLst>
              <a:ext uri="{FF2B5EF4-FFF2-40B4-BE49-F238E27FC236}">
                <a16:creationId xmlns:a16="http://schemas.microsoft.com/office/drawing/2014/main" id="{B3A8C18E-CCC1-4E7A-BC65-417C170156FD}"/>
              </a:ext>
            </a:extLst>
          </p:cNvPr>
          <p:cNvSpPr>
            <a:spLocks noGrp="1"/>
          </p:cNvSpPr>
          <p:nvPr/>
        </p:nvSpPr>
        <p:spPr>
          <a:xfrm>
            <a:off x="8648700" y="243840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Impresion aparte</a:t>
            </a:r>
          </a:p>
        </p:txBody>
      </p:sp>
      <p:sp>
        <p:nvSpPr>
          <p:cNvPr id="34" name="Rectángulo 33">
            <a:extLst>
              <a:ext uri="{FF2B5EF4-FFF2-40B4-BE49-F238E27FC236}">
                <a16:creationId xmlns:a16="http://schemas.microsoft.com/office/drawing/2014/main" id="{0E313655-29C2-4CA5-B39E-3FC2CC6FC711}"/>
              </a:ext>
            </a:extLst>
          </p:cNvPr>
          <p:cNvSpPr>
            <a:spLocks noGrp="1"/>
          </p:cNvSpPr>
          <p:nvPr/>
        </p:nvSpPr>
        <p:spPr>
          <a:xfrm>
            <a:off x="8648700" y="274320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`impreso` no convierte un PDF en faltante ni fuerza regeneracion.</a:t>
            </a:r>
          </a:p>
        </p:txBody>
      </p:sp>
      <p:sp>
        <p:nvSpPr>
          <p:cNvPr id="35" name="Rectángulo redondeado 34">
            <a:extLst>
              <a:ext uri="{FF2B5EF4-FFF2-40B4-BE49-F238E27FC236}">
                <a16:creationId xmlns:a16="http://schemas.microsoft.com/office/drawing/2014/main" id="{483E7C36-4962-40D4-B862-B5161F647638}"/>
              </a:ext>
            </a:extLst>
          </p:cNvPr>
          <p:cNvSpPr>
            <a:spLocks noGrp="1"/>
          </p:cNvSpPr>
          <p:nvPr/>
        </p:nvSpPr>
        <p:spPr>
          <a:xfrm>
            <a:off x="8477250" y="3562350"/>
            <a:ext cx="2476500" cy="895350"/>
          </a:xfrm>
          <a:prstGeom prst="roundRect">
            <a:avLst>
              <a:gd name="adj" fmla="val 8511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36" name="Rectángulo 35">
            <a:extLst>
              <a:ext uri="{FF2B5EF4-FFF2-40B4-BE49-F238E27FC236}">
                <a16:creationId xmlns:a16="http://schemas.microsoft.com/office/drawing/2014/main" id="{52F0CE59-17BF-4BEF-8391-98ECE8DB98B2}"/>
              </a:ext>
            </a:extLst>
          </p:cNvPr>
          <p:cNvSpPr>
            <a:spLocks noGrp="1"/>
          </p:cNvSpPr>
          <p:nvPr/>
        </p:nvSpPr>
        <p:spPr>
          <a:xfrm>
            <a:off x="8477250" y="3562350"/>
            <a:ext cx="47625" cy="8953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37" name="Rectángulo 36">
            <a:extLst>
              <a:ext uri="{FF2B5EF4-FFF2-40B4-BE49-F238E27FC236}">
                <a16:creationId xmlns:a16="http://schemas.microsoft.com/office/drawing/2014/main" id="{84FE612F-8A83-4FB8-A03C-8006707353C6}"/>
              </a:ext>
            </a:extLst>
          </p:cNvPr>
          <p:cNvSpPr>
            <a:spLocks noGrp="1"/>
          </p:cNvSpPr>
          <p:nvPr/>
        </p:nvSpPr>
        <p:spPr>
          <a:xfrm>
            <a:off x="8648700" y="371475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Regla critica</a:t>
            </a:r>
          </a:p>
        </p:txBody>
      </p:sp>
      <p:sp>
        <p:nvSpPr>
          <p:cNvPr id="38" name="Rectángulo 37">
            <a:extLst>
              <a:ext uri="{FF2B5EF4-FFF2-40B4-BE49-F238E27FC236}">
                <a16:creationId xmlns:a16="http://schemas.microsoft.com/office/drawing/2014/main" id="{6712D688-FC42-46D2-A539-BB2D33E40263}"/>
              </a:ext>
            </a:extLst>
          </p:cNvPr>
          <p:cNvSpPr>
            <a:spLocks noGrp="1"/>
          </p:cNvSpPr>
          <p:nvPr/>
        </p:nvSpPr>
        <p:spPr>
          <a:xfrm>
            <a:off x="8648700" y="401955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Si hay conflicto, no se genera nada hasta resolverlo.</a:t>
            </a:r>
          </a:p>
        </p:txBody>
      </p:sp>
      <p:sp>
        <p:nvSpPr>
          <p:cNvPr id="39" name="Rectángulo redondeado 38">
            <a:extLst>
              <a:ext uri="{FF2B5EF4-FFF2-40B4-BE49-F238E27FC236}">
                <a16:creationId xmlns:a16="http://schemas.microsoft.com/office/drawing/2014/main" id="{52B4E9E6-7A35-408C-BF8B-CCA45B019D19}"/>
              </a:ext>
            </a:extLst>
          </p:cNvPr>
          <p:cNvSpPr>
            <a:spLocks noGrp="1"/>
          </p:cNvSpPr>
          <p:nvPr/>
        </p:nvSpPr>
        <p:spPr>
          <a:xfrm>
            <a:off x="8477250" y="4838700"/>
            <a:ext cx="2476500" cy="895350"/>
          </a:xfrm>
          <a:prstGeom prst="roundRect">
            <a:avLst>
              <a:gd name="adj" fmla="val 8511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40" name="Rectángulo 39">
            <a:extLst>
              <a:ext uri="{FF2B5EF4-FFF2-40B4-BE49-F238E27FC236}">
                <a16:creationId xmlns:a16="http://schemas.microsoft.com/office/drawing/2014/main" id="{F61361F8-5F5A-446F-949F-B39065380813}"/>
              </a:ext>
            </a:extLst>
          </p:cNvPr>
          <p:cNvSpPr>
            <a:spLocks noGrp="1"/>
          </p:cNvSpPr>
          <p:nvPr/>
        </p:nvSpPr>
        <p:spPr>
          <a:xfrm>
            <a:off x="8477250" y="4838700"/>
            <a:ext cx="47625" cy="89535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41" name="Rectángulo 40">
            <a:extLst>
              <a:ext uri="{FF2B5EF4-FFF2-40B4-BE49-F238E27FC236}">
                <a16:creationId xmlns:a16="http://schemas.microsoft.com/office/drawing/2014/main" id="{C9275A92-2529-4AF4-AE43-AEF2C4CD5854}"/>
              </a:ext>
            </a:extLst>
          </p:cNvPr>
          <p:cNvSpPr>
            <a:spLocks noGrp="1"/>
          </p:cNvSpPr>
          <p:nvPr/>
        </p:nvSpPr>
        <p:spPr>
          <a:xfrm>
            <a:off x="8648700" y="4991100"/>
            <a:ext cx="2190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Resultado</a:t>
            </a:r>
          </a:p>
        </p:txBody>
      </p:sp>
      <p:sp>
        <p:nvSpPr>
          <p:cNvPr id="42" name="Rectángulo 41">
            <a:extLst>
              <a:ext uri="{FF2B5EF4-FFF2-40B4-BE49-F238E27FC236}">
                <a16:creationId xmlns:a16="http://schemas.microsoft.com/office/drawing/2014/main" id="{D8BFB5F9-6FE0-4BDA-9EDA-D998772E1A66}"/>
              </a:ext>
            </a:extLst>
          </p:cNvPr>
          <p:cNvSpPr>
            <a:spLocks noGrp="1"/>
          </p:cNvSpPr>
          <p:nvPr/>
        </p:nvSpPr>
        <p:spPr>
          <a:xfrm>
            <a:off x="8648700" y="5295900"/>
            <a:ext cx="2152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El operador ve conteos, warnings, BD y log antes de continuar.</a:t>
            </a:r>
          </a:p>
        </p:txBody>
      </p:sp>
      <p:sp>
        <p:nvSpPr>
          <p:cNvPr id="43" name="Rectángulo 42">
            <a:extLst>
              <a:ext uri="{FF2B5EF4-FFF2-40B4-BE49-F238E27FC236}">
                <a16:creationId xmlns:a16="http://schemas.microsoft.com/office/drawing/2014/main" id="{7850B4F9-0C4A-4A86-A9E0-582875FB77F7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7A8EC983-D212-495C-9DD1-C5D9EEABFF15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71244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ángulo 26">
            <a:extLst>
              <a:ext uri="{FF2B5EF4-FFF2-40B4-BE49-F238E27FC236}">
                <a16:creationId xmlns:a16="http://schemas.microsoft.com/office/drawing/2014/main" id="{FD8A2B40-40F0-4FA6-9087-4E58949CA8A8}"/>
              </a:ext>
            </a:extLst>
          </p:cNvPr>
          <p:cNvSpPr>
            <a:spLocks noGrp="1"/>
          </p:cNvSpPr>
          <p:nvPr/>
        </p:nvSpPr>
        <p:spPr>
          <a:xfrm>
            <a:off x="590550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7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PDF ANOTADO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2D523E9-E28A-4AC0-A360-C2D198F4CADA}"/>
              </a:ext>
            </a:extLst>
          </p:cNvPr>
          <p:cNvSpPr>
            <a:spLocks noGrp="1"/>
          </p:cNvSpPr>
          <p:nvPr/>
        </p:nvSpPr>
        <p:spPr>
          <a:xfrm>
            <a:off x="590550" y="666750"/>
            <a:ext cx="723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3000"/>
              </a:lnSpc>
              <a:buNone/>
              <a:defRPr sz="23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3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El mockup es evidencia visual, no el arte final de produccion.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F8D3BD4-03A4-4D13-83EF-508C39A6004D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El PDF se anota con datos operativos para revision, validacion, consulta e impresion controlada.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7AD62B7-61C0-46B1-A3D1-4457C62F5EDD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D2A7BA75-ED5B-4256-A5E4-F02FF2CFCAA5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5905500" cy="4191000"/>
          </a:xfrm>
          <a:prstGeom prst="roundRect">
            <a:avLst>
              <a:gd name="adj" fmla="val 1818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BB49D68-596A-4D94-9125-402E7F1815A6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5905500" cy="1333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0E87DA9-394B-484C-B4EB-25771577B2C4}"/>
              </a:ext>
            </a:extLst>
          </p:cNvPr>
          <p:cNvSpPr>
            <a:spLocks noGrp="1"/>
          </p:cNvSpPr>
          <p:nvPr/>
        </p:nvSpPr>
        <p:spPr>
          <a:xfrm>
            <a:off x="1390650" y="21526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25282E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1">
                <a:solidFill>
                  <a:srgbClr val="25282E"/>
                </a:solidFill>
                <a:latin typeface="Calibri"/>
                <a:ea typeface="Calibri"/>
                <a:cs typeface="Calibri"/>
              </a:rPr>
              <a:t>MOCKUP VISUAL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B90A745-34E9-4643-B22A-1D9BDAEB69C3}"/>
              </a:ext>
            </a:extLst>
          </p:cNvPr>
          <p:cNvSpPr>
            <a:spLocks noGrp="1"/>
          </p:cNvSpPr>
          <p:nvPr/>
        </p:nvSpPr>
        <p:spPr>
          <a:xfrm>
            <a:off x="1390650" y="2781300"/>
            <a:ext cx="3048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25282E"/>
                </a:solidFill>
                <a:latin typeface="Calibri"/>
                <a:ea typeface="Calibri"/>
                <a:cs typeface="Calibri"/>
              </a:defRPr>
            </a:pPr>
            <a:r>
              <a:rPr lang="es-ES_tradnl" sz="2100" b="1">
                <a:solidFill>
                  <a:srgbClr val="25282E"/>
                </a:solidFill>
                <a:latin typeface="Calibri"/>
                <a:ea typeface="Calibri"/>
                <a:cs typeface="Calibri"/>
              </a:rPr>
              <a:t>Equipo / Style / Variante</a:t>
            </a: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A44AE84E-D048-46FF-861A-B31E435B9236}"/>
              </a:ext>
            </a:extLst>
          </p:cNvPr>
          <p:cNvSpPr>
            <a:spLocks noGrp="1"/>
          </p:cNvSpPr>
          <p:nvPr/>
        </p:nvSpPr>
        <p:spPr>
          <a:xfrm>
            <a:off x="1390650" y="35242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3A3F47"/>
                </a:solidFill>
                <a:latin typeface="Calibri"/>
                <a:ea typeface="Calibri"/>
                <a:cs typeface="Calibri"/>
              </a:defRPr>
            </a:pPr>
            <a:r>
              <a:rPr lang="es-ES_tradnl" sz="1425" b="0">
                <a:solidFill>
                  <a:srgbClr val="3A3F47"/>
                </a:solidFill>
                <a:latin typeface="Calibri"/>
                <a:ea typeface="Calibri"/>
                <a:cs typeface="Calibri"/>
              </a:rPr>
              <a:t>WO o Roster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F0CA693-63AC-4D64-9412-D1A8290856C5}"/>
              </a:ext>
            </a:extLst>
          </p:cNvPr>
          <p:cNvSpPr>
            <a:spLocks noGrp="1"/>
          </p:cNvSpPr>
          <p:nvPr/>
        </p:nvSpPr>
        <p:spPr>
          <a:xfrm>
            <a:off x="4476750" y="3524250"/>
            <a:ext cx="114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3A3F47"/>
                </a:solidFill>
                <a:latin typeface="Calibri"/>
                <a:ea typeface="Calibri"/>
                <a:cs typeface="Calibri"/>
              </a:defRPr>
            </a:pPr>
            <a:r>
              <a:rPr lang="es-ES_tradnl" sz="1425" b="0">
                <a:solidFill>
                  <a:srgbClr val="3A3F47"/>
                </a:solidFill>
                <a:latin typeface="Calibri"/>
                <a:ea typeface="Calibri"/>
                <a:cs typeface="Calibri"/>
              </a:rPr>
              <a:t>Piezas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41D73DD-70D2-4063-9634-95DDF235AC20}"/>
              </a:ext>
            </a:extLst>
          </p:cNvPr>
          <p:cNvSpPr>
            <a:spLocks noGrp="1"/>
          </p:cNvSpPr>
          <p:nvPr/>
        </p:nvSpPr>
        <p:spPr>
          <a:xfrm>
            <a:off x="1390650" y="4362450"/>
            <a:ext cx="4191000" cy="19050"/>
          </a:xfrm>
          <a:prstGeom prst="rect">
            <a:avLst/>
          </a:prstGeom>
          <a:solidFill>
            <a:srgbClr val="D6D9DE"/>
          </a:solidFill>
          <a:ln w="0">
            <a:solidFill>
              <a:srgbClr val="D6D9DE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E87C785-C20D-4A9F-B8F7-348224AA4E3F}"/>
              </a:ext>
            </a:extLst>
          </p:cNvPr>
          <p:cNvSpPr>
            <a:spLocks noGrp="1"/>
          </p:cNvSpPr>
          <p:nvPr/>
        </p:nvSpPr>
        <p:spPr>
          <a:xfrm>
            <a:off x="1390650" y="4629150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0">
                <a:solidFill>
                  <a:srgbClr val="3A3F47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0">
                <a:solidFill>
                  <a:srgbClr val="3A3F47"/>
                </a:solidFill>
                <a:latin typeface="Calibri"/>
                <a:ea typeface="Calibri"/>
                <a:cs typeface="Calibri"/>
              </a:rPr>
              <a:t>Firma del disenador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8B0FD165-97AE-4B76-BAA0-1686497DA43A}"/>
              </a:ext>
            </a:extLst>
          </p:cNvPr>
          <p:cNvSpPr>
            <a:spLocks noGrp="1"/>
          </p:cNvSpPr>
          <p:nvPr/>
        </p:nvSpPr>
        <p:spPr>
          <a:xfrm>
            <a:off x="7524750" y="2000250"/>
            <a:ext cx="2857500" cy="857250"/>
          </a:xfrm>
          <a:prstGeom prst="roundRect">
            <a:avLst>
              <a:gd name="adj" fmla="val 8889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A16AB7C3-9EC2-4248-8826-2DEBC7DE025B}"/>
              </a:ext>
            </a:extLst>
          </p:cNvPr>
          <p:cNvSpPr>
            <a:spLocks noGrp="1"/>
          </p:cNvSpPr>
          <p:nvPr/>
        </p:nvSpPr>
        <p:spPr>
          <a:xfrm>
            <a:off x="7524750" y="2000250"/>
            <a:ext cx="47625" cy="8572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28CAAA1A-9AD4-42DC-A1F2-9E90B8F6D69F}"/>
              </a:ext>
            </a:extLst>
          </p:cNvPr>
          <p:cNvSpPr>
            <a:spLocks noGrp="1"/>
          </p:cNvSpPr>
          <p:nvPr/>
        </p:nvSpPr>
        <p:spPr>
          <a:xfrm>
            <a:off x="7696200" y="21526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Personalizadas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CB8596E4-B69A-48B8-99BE-F8C41C6D6DFF}"/>
              </a:ext>
            </a:extLst>
          </p:cNvPr>
          <p:cNvSpPr>
            <a:spLocks noGrp="1"/>
          </p:cNvSpPr>
          <p:nvPr/>
        </p:nvSpPr>
        <p:spPr>
          <a:xfrm>
            <a:off x="7696200" y="2457450"/>
            <a:ext cx="2533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Fecha del titulo, WO, Style, piezas, talla y firma.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4969AB20-D6FC-4200-A42C-2E8222030792}"/>
              </a:ext>
            </a:extLst>
          </p:cNvPr>
          <p:cNvSpPr>
            <a:spLocks noGrp="1"/>
          </p:cNvSpPr>
          <p:nvPr/>
        </p:nvSpPr>
        <p:spPr>
          <a:xfrm>
            <a:off x="8096250" y="3238500"/>
            <a:ext cx="2857500" cy="857250"/>
          </a:xfrm>
          <a:prstGeom prst="roundRect">
            <a:avLst>
              <a:gd name="adj" fmla="val 8889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999EA42F-E6FE-4B5A-80A7-90100D73C719}"/>
              </a:ext>
            </a:extLst>
          </p:cNvPr>
          <p:cNvSpPr>
            <a:spLocks noGrp="1"/>
          </p:cNvSpPr>
          <p:nvPr/>
        </p:nvSpPr>
        <p:spPr>
          <a:xfrm>
            <a:off x="8096250" y="3238500"/>
            <a:ext cx="47625" cy="85725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3D1D301B-14BA-4D43-85BE-87E307BAA708}"/>
              </a:ext>
            </a:extLst>
          </p:cNvPr>
          <p:cNvSpPr>
            <a:spLocks noGrp="1"/>
          </p:cNvSpPr>
          <p:nvPr/>
        </p:nvSpPr>
        <p:spPr>
          <a:xfrm>
            <a:off x="8267700" y="339090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Genericas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A1E36B2-F616-4325-8F72-654C3B6F3700}"/>
              </a:ext>
            </a:extLst>
          </p:cNvPr>
          <p:cNvSpPr>
            <a:spLocks noGrp="1"/>
          </p:cNvSpPr>
          <p:nvPr/>
        </p:nvSpPr>
        <p:spPr>
          <a:xfrm>
            <a:off x="8267700" y="3695700"/>
            <a:ext cx="2533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Fecha Emb, WO, Roster, Style, piezas y firma.</a:t>
            </a:r>
          </a:p>
        </p:txBody>
      </p:sp>
      <p:sp>
        <p:nvSpPr>
          <p:cNvPr id="21" name="Rectángulo redondeado 20">
            <a:extLst>
              <a:ext uri="{FF2B5EF4-FFF2-40B4-BE49-F238E27FC236}">
                <a16:creationId xmlns:a16="http://schemas.microsoft.com/office/drawing/2014/main" id="{717696D1-DCF1-4CCD-82E8-38FC7B251289}"/>
              </a:ext>
            </a:extLst>
          </p:cNvPr>
          <p:cNvSpPr>
            <a:spLocks noGrp="1"/>
          </p:cNvSpPr>
          <p:nvPr/>
        </p:nvSpPr>
        <p:spPr>
          <a:xfrm>
            <a:off x="7524750" y="4476750"/>
            <a:ext cx="2857500" cy="857250"/>
          </a:xfrm>
          <a:prstGeom prst="roundRect">
            <a:avLst>
              <a:gd name="adj" fmla="val 8889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E552E4BD-8681-4CCA-90EB-C0217E9A8CDB}"/>
              </a:ext>
            </a:extLst>
          </p:cNvPr>
          <p:cNvSpPr>
            <a:spLocks noGrp="1"/>
          </p:cNvSpPr>
          <p:nvPr/>
        </p:nvSpPr>
        <p:spPr>
          <a:xfrm>
            <a:off x="7524750" y="4476750"/>
            <a:ext cx="47625" cy="85725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C3DD6AB-E46E-4EA9-AFA2-E2898A73D47D}"/>
              </a:ext>
            </a:extLst>
          </p:cNvPr>
          <p:cNvSpPr>
            <a:spLocks noGrp="1"/>
          </p:cNvSpPr>
          <p:nvPr/>
        </p:nvSpPr>
        <p:spPr>
          <a:xfrm>
            <a:off x="7696200" y="46291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Limite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8A36602C-4B46-4724-AC19-3856B3865AFC}"/>
              </a:ext>
            </a:extLst>
          </p:cNvPr>
          <p:cNvSpPr>
            <a:spLocks noGrp="1"/>
          </p:cNvSpPr>
          <p:nvPr/>
        </p:nvSpPr>
        <p:spPr>
          <a:xfrm>
            <a:off x="7696200" y="4933950"/>
            <a:ext cx="2533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Solo anota mockups base PDF; JPG requiere conversion o flujo adicional.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785D4536-627E-44BE-8AAF-5072EE4376D1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7CBF92F1-D4D2-487C-B8A8-C190276B0FEC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21295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ángulo 18">
            <a:extLst>
              <a:ext uri="{FF2B5EF4-FFF2-40B4-BE49-F238E27FC236}">
                <a16:creationId xmlns:a16="http://schemas.microsoft.com/office/drawing/2014/main" id="{34D79A7B-F057-4119-AC35-DC3CB5E8BEEC}"/>
              </a:ext>
            </a:extLst>
          </p:cNvPr>
          <p:cNvSpPr>
            <a:spLocks noGrp="1"/>
          </p:cNvSpPr>
          <p:nvPr/>
        </p:nvSpPr>
        <p:spPr>
          <a:xfrm>
            <a:off x="590550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7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RUTAS Y NOMBRES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0BF5580-FACF-405D-85D1-17CB6F37D7F9}"/>
              </a:ext>
            </a:extLst>
          </p:cNvPr>
          <p:cNvSpPr>
            <a:spLocks noGrp="1"/>
          </p:cNvSpPr>
          <p:nvPr/>
        </p:nvSpPr>
        <p:spPr>
          <a:xfrm>
            <a:off x="590550" y="666750"/>
            <a:ext cx="723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3000"/>
              </a:lnSpc>
              <a:buNone/>
              <a:defRPr sz="23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3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La salida queda ordenada para encontrar el PDF despues.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88BB0E3-A289-4EF6-ADC2-0DF7504D5866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Personalizadas usa una raiz operativa. Genericas sale junto al Excel seleccionado, dentro de la seccion Genericas.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3B6DCA49-FB77-44E3-BB21-33C082E22E63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995B1B88-A86B-450B-B913-C5D662B1A029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5048250" cy="3238500"/>
          </a:xfrm>
          <a:prstGeom prst="roundRect">
            <a:avLst>
              <a:gd name="adj" fmla="val 2353"/>
            </a:avLst>
          </a:prstGeom>
          <a:solidFill>
            <a:srgbClr val="202329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22FF50E-0430-4692-927F-E946CBC998AA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5048250" cy="762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857949E5-1E55-47C9-B55D-6D5BE55346B6}"/>
              </a:ext>
            </a:extLst>
          </p:cNvPr>
          <p:cNvSpPr>
            <a:spLocks noGrp="1"/>
          </p:cNvSpPr>
          <p:nvPr/>
        </p:nvSpPr>
        <p:spPr>
          <a:xfrm>
            <a:off x="971550" y="24193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7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Personalizadas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12DEAC4-9C1F-4B30-B2F6-B42BACA7E199}"/>
              </a:ext>
            </a:extLst>
          </p:cNvPr>
          <p:cNvSpPr>
            <a:spLocks noGrp="1"/>
          </p:cNvSpPr>
          <p:nvPr/>
        </p:nvSpPr>
        <p:spPr>
          <a:xfrm>
            <a:off x="990600" y="2971800"/>
            <a:ext cx="4095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raiz seleccionada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/Personalizadas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/&lt;Excel sin extension&gt;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/&lt;StyleFamily&gt;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/&lt;Talla&gt;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  &lt;WO&gt; - &lt;Equipo&gt; - &lt;Style&gt; - &lt;Piezas&gt;pz.pdf</a:t>
            </a:r>
          </a:p>
        </p:txBody>
      </p:sp>
      <p:sp>
        <p:nvSpPr>
          <p:cNvPr id="9" name="Rectángulo redondeado 8">
            <a:extLst>
              <a:ext uri="{FF2B5EF4-FFF2-40B4-BE49-F238E27FC236}">
                <a16:creationId xmlns:a16="http://schemas.microsoft.com/office/drawing/2014/main" id="{8F5C6C9D-75FD-4891-BCD3-A2D4E509DC97}"/>
              </a:ext>
            </a:extLst>
          </p:cNvPr>
          <p:cNvSpPr>
            <a:spLocks noGrp="1"/>
          </p:cNvSpPr>
          <p:nvPr/>
        </p:nvSpPr>
        <p:spPr>
          <a:xfrm>
            <a:off x="6457950" y="1562100"/>
            <a:ext cx="5048250" cy="3981450"/>
          </a:xfrm>
          <a:prstGeom prst="roundRect">
            <a:avLst>
              <a:gd name="adj" fmla="val 1914"/>
            </a:avLst>
          </a:prstGeom>
          <a:solidFill>
            <a:srgbClr val="202329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55E58925-5578-4C8F-8C3B-588260284ECA}"/>
              </a:ext>
            </a:extLst>
          </p:cNvPr>
          <p:cNvSpPr>
            <a:spLocks noGrp="1"/>
          </p:cNvSpPr>
          <p:nvPr/>
        </p:nvSpPr>
        <p:spPr>
          <a:xfrm>
            <a:off x="6457950" y="1562100"/>
            <a:ext cx="5048250" cy="7620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88B81D9-411F-45D2-863D-DE9A8DC8697F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7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Genericas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891EC81-3AEB-4F97-A848-92968C309169}"/>
              </a:ext>
            </a:extLst>
          </p:cNvPr>
          <p:cNvSpPr>
            <a:spLocks noGrp="1"/>
          </p:cNvSpPr>
          <p:nvPr/>
        </p:nvSpPr>
        <p:spPr>
          <a:xfrm>
            <a:off x="6762750" y="2438400"/>
            <a:ext cx="409575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carpeta donde esta el Excel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/Genericas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/&lt;Excel sin extension&gt;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/&lt;StyleFamily&gt;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/&lt;Emb&gt;</a:t>
            </a:r>
          </a:p>
          <a:p>
            <a:pPr algn="l">
              <a:lnSpc>
                <a:spcPct val="125000"/>
              </a:lnSpc>
              <a:buNone/>
              <a:defRPr sz="12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          &lt;Roster&gt; - &lt;Equipo&gt; - &lt;Style&gt; - &lt;Piezas&gt;pz.pdf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7F316371-6C5C-4622-ABA4-EF7E47D2E999}"/>
              </a:ext>
            </a:extLst>
          </p:cNvPr>
          <p:cNvSpPr>
            <a:spLocks noGrp="1"/>
          </p:cNvSpPr>
          <p:nvPr/>
        </p:nvSpPr>
        <p:spPr>
          <a:xfrm>
            <a:off x="7429500" y="4610100"/>
            <a:ext cx="3048000" cy="609600"/>
          </a:xfrm>
          <a:prstGeom prst="roundRect">
            <a:avLst>
              <a:gd name="adj" fmla="val 12500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FBF457A5-A0C2-4118-8DD2-1114D3FADC86}"/>
              </a:ext>
            </a:extLst>
          </p:cNvPr>
          <p:cNvSpPr>
            <a:spLocks noGrp="1"/>
          </p:cNvSpPr>
          <p:nvPr/>
        </p:nvSpPr>
        <p:spPr>
          <a:xfrm>
            <a:off x="7429500" y="4610100"/>
            <a:ext cx="47625" cy="60960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AB03EBCB-FD5D-4867-B102-E6EA3C2ED403}"/>
              </a:ext>
            </a:extLst>
          </p:cNvPr>
          <p:cNvSpPr>
            <a:spLocks noGrp="1"/>
          </p:cNvSpPr>
          <p:nvPr/>
        </p:nvSpPr>
        <p:spPr>
          <a:xfrm>
            <a:off x="7600950" y="4762500"/>
            <a:ext cx="2762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7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Dato clave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BDBC729F-3ECA-461E-9241-5036D1B743B4}"/>
              </a:ext>
            </a:extLst>
          </p:cNvPr>
          <p:cNvSpPr>
            <a:spLocks noGrp="1"/>
          </p:cNvSpPr>
          <p:nvPr/>
        </p:nvSpPr>
        <p:spPr>
          <a:xfrm>
            <a:off x="7600950" y="5067300"/>
            <a:ext cx="27241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0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00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runs.path e items.path guardan rutas completas.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487FC108-5D9F-4E0F-884B-341C7E66AA9F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DA7FE61-F468-406F-881B-84B19FD6806C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7296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ángulo 19">
            <a:extLst>
              <a:ext uri="{FF2B5EF4-FFF2-40B4-BE49-F238E27FC236}">
                <a16:creationId xmlns:a16="http://schemas.microsoft.com/office/drawing/2014/main" id="{0C8651B6-1C6A-4987-9E92-FAEC16671541}"/>
              </a:ext>
            </a:extLst>
          </p:cNvPr>
          <p:cNvSpPr>
            <a:spLocks noGrp="1"/>
          </p:cNvSpPr>
          <p:nvPr/>
        </p:nvSpPr>
        <p:spPr>
          <a:xfrm>
            <a:off x="590550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7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SQLITE Y LOGS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3CAC6FE-9BB6-4A4E-BFA4-0F6A03AB4380}"/>
              </a:ext>
            </a:extLst>
          </p:cNvPr>
          <p:cNvSpPr>
            <a:spLocks noGrp="1"/>
          </p:cNvSpPr>
          <p:nvPr/>
        </p:nvSpPr>
        <p:spPr>
          <a:xfrm>
            <a:off x="590550" y="666750"/>
            <a:ext cx="723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3000"/>
              </a:lnSpc>
              <a:buNone/>
              <a:defRPr sz="23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3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La base guarda el contexto que luego consulta el sistema.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645E7F2-9114-458E-AE64-EAE325E9142E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MockupTool escribe tablas propias en la base central y conserva rutas exactas de Excel, corrida y PDF.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14C1D77-4407-4332-8197-758F3C60A105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9C014348-561F-4EE1-AB99-2F5D9F302FCB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2381250"/>
          </a:xfrm>
          <a:prstGeom prst="roundRect">
            <a:avLst>
              <a:gd name="adj" fmla="val 3200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8D170CEA-1F56-4B94-BC7A-C32F102DF8CA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47625" cy="23812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EC6F4C8-5531-48F7-AD1B-AF431C136F55}"/>
              </a:ext>
            </a:extLst>
          </p:cNvPr>
          <p:cNvSpPr>
            <a:spLocks noGrp="1"/>
          </p:cNvSpPr>
          <p:nvPr/>
        </p:nvSpPr>
        <p:spPr>
          <a:xfrm>
            <a:off x="933450" y="23431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rmc_mockuptool_runs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A05EDC8-BC69-4926-8010-0BDFCC4EADB6}"/>
              </a:ext>
            </a:extLst>
          </p:cNvPr>
          <p:cNvSpPr>
            <a:spLocks noGrp="1"/>
          </p:cNvSpPr>
          <p:nvPr/>
        </p:nvSpPr>
        <p:spPr>
          <a:xfrm>
            <a:off x="933450" y="2647950"/>
            <a:ext cx="2533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Una fila por generacion real.</a:t>
            </a:r>
          </a:p>
          <a:p>
            <a:endParaRPr lang="es-ES_tradnl" sz="975" b="0">
              <a:solidFill>
                <a:srgbClr val="B8BEC8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14000"/>
              </a:lnSpc>
              <a:buNone/>
              <a:defRPr sz="9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Guarda fecha, hora, seccion, herramienta, excel_path, path, disenador, estilos, tallas y conteos.</a:t>
            </a:r>
          </a:p>
        </p:txBody>
      </p:sp>
      <p:sp>
        <p:nvSpPr>
          <p:cNvPr id="9" name="Rectángulo redondeado 8">
            <a:extLst>
              <a:ext uri="{FF2B5EF4-FFF2-40B4-BE49-F238E27FC236}">
                <a16:creationId xmlns:a16="http://schemas.microsoft.com/office/drawing/2014/main" id="{30439494-2DA6-4F0F-8C95-333CA017333B}"/>
              </a:ext>
            </a:extLst>
          </p:cNvPr>
          <p:cNvSpPr>
            <a:spLocks noGrp="1"/>
          </p:cNvSpPr>
          <p:nvPr/>
        </p:nvSpPr>
        <p:spPr>
          <a:xfrm>
            <a:off x="4667250" y="1809750"/>
            <a:ext cx="2857500" cy="3143250"/>
          </a:xfrm>
          <a:prstGeom prst="roundRect">
            <a:avLst>
              <a:gd name="adj" fmla="val 2667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0065C9DF-555E-4511-B0CF-6FE30E3989B2}"/>
              </a:ext>
            </a:extLst>
          </p:cNvPr>
          <p:cNvSpPr>
            <a:spLocks noGrp="1"/>
          </p:cNvSpPr>
          <p:nvPr/>
        </p:nvSpPr>
        <p:spPr>
          <a:xfrm>
            <a:off x="4667250" y="1809750"/>
            <a:ext cx="47625" cy="314325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ECE00F6-D074-4D6B-AC6F-7A3C0FAE4FF9}"/>
              </a:ext>
            </a:extLst>
          </p:cNvPr>
          <p:cNvSpPr>
            <a:spLocks noGrp="1"/>
          </p:cNvSpPr>
          <p:nvPr/>
        </p:nvSpPr>
        <p:spPr>
          <a:xfrm>
            <a:off x="4838700" y="19621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rmc_mockuptool_items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587D28A2-A5BB-4F64-8216-2D993790B463}"/>
              </a:ext>
            </a:extLst>
          </p:cNvPr>
          <p:cNvSpPr>
            <a:spLocks noGrp="1"/>
          </p:cNvSpPr>
          <p:nvPr/>
        </p:nvSpPr>
        <p:spPr>
          <a:xfrm>
            <a:off x="4838700" y="2266950"/>
            <a:ext cx="2533650" cy="2590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Una fila vigente por PDF generado.</a:t>
            </a:r>
          </a:p>
          <a:p>
            <a:endParaRPr lang="es-ES_tradnl" sz="975" b="0">
              <a:solidFill>
                <a:srgbClr val="B8BEC8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114000"/>
              </a:lnSpc>
              <a:buNone/>
              <a:defRPr sz="9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Guarda WO, roster, style, equipo, variante, talla, piezas, archivo, path, clave, fecha_embarque e impreso.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3130DA9A-226F-497F-8EE5-471A9822E2B0}"/>
              </a:ext>
            </a:extLst>
          </p:cNvPr>
          <p:cNvSpPr>
            <a:spLocks noGrp="1"/>
          </p:cNvSpPr>
          <p:nvPr/>
        </p:nvSpPr>
        <p:spPr>
          <a:xfrm>
            <a:off x="8572500" y="2381250"/>
            <a:ext cx="2857500" cy="1905000"/>
          </a:xfrm>
          <a:prstGeom prst="roundRect">
            <a:avLst>
              <a:gd name="adj" fmla="val 4000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39CCE6F8-85AE-46FB-8E77-78687C8F9E96}"/>
              </a:ext>
            </a:extLst>
          </p:cNvPr>
          <p:cNvSpPr>
            <a:spLocks noGrp="1"/>
          </p:cNvSpPr>
          <p:nvPr/>
        </p:nvSpPr>
        <p:spPr>
          <a:xfrm>
            <a:off x="8572500" y="2381250"/>
            <a:ext cx="47625" cy="190500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BA7C2A09-4A6F-41C3-AD81-0262A8FC40B8}"/>
              </a:ext>
            </a:extLst>
          </p:cNvPr>
          <p:cNvSpPr>
            <a:spLocks noGrp="1"/>
          </p:cNvSpPr>
          <p:nvPr/>
        </p:nvSpPr>
        <p:spPr>
          <a:xfrm>
            <a:off x="8743950" y="2533650"/>
            <a:ext cx="2571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Log JSON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12B9DCAA-AFB1-46E0-AFC1-1FA766D5BEB1}"/>
              </a:ext>
            </a:extLst>
          </p:cNvPr>
          <p:cNvSpPr>
            <a:spLocks noGrp="1"/>
          </p:cNvSpPr>
          <p:nvPr/>
        </p:nvSpPr>
        <p:spPr>
          <a:xfrm>
            <a:off x="8743950" y="2838450"/>
            <a:ext cx="25336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Respaldo tecnico por corrida para diagnostico y reconciliacion si SQLite falla despues del PDF.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D8164B12-230C-4A0A-BE0F-2E0E1187C395}"/>
              </a:ext>
            </a:extLst>
          </p:cNvPr>
          <p:cNvSpPr>
            <a:spLocks noGrp="1"/>
          </p:cNvSpPr>
          <p:nvPr/>
        </p:nvSpPr>
        <p:spPr>
          <a:xfrm>
            <a:off x="4114800" y="5467350"/>
            <a:ext cx="3905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3C747"/>
                </a:solidFill>
                <a:latin typeface="Calibri"/>
                <a:ea typeface="Calibri"/>
                <a:cs typeface="Calibri"/>
              </a:defRPr>
            </a:pPr>
            <a:r>
              <a:rPr lang="es-ES_tradnl" sz="1425" b="1">
                <a:solidFill>
                  <a:srgbClr val="F3C747"/>
                </a:solidFill>
                <a:latin typeface="Calibri"/>
                <a:ea typeface="Calibri"/>
                <a:cs typeface="Calibri"/>
              </a:rPr>
              <a:t>clave UNIQUE evita duplicados mediante upsert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F66BD8B5-0C29-4DF4-AAD9-1DB137095C96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166C7F3A-D95D-4160-92B8-A53A0B83E6B2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91460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ángulo 30">
            <a:extLst>
              <a:ext uri="{FF2B5EF4-FFF2-40B4-BE49-F238E27FC236}">
                <a16:creationId xmlns:a16="http://schemas.microsoft.com/office/drawing/2014/main" id="{54CE218E-CEC7-4F49-AA89-37E59244BCB5}"/>
              </a:ext>
            </a:extLst>
          </p:cNvPr>
          <p:cNvSpPr>
            <a:spLocks noGrp="1"/>
          </p:cNvSpPr>
          <p:nvPr/>
        </p:nvSpPr>
        <p:spPr>
          <a:xfrm>
            <a:off x="590550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7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IMPRESION CONTROLADA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86979ED-53B7-4F1E-9704-F8007BD7183A}"/>
              </a:ext>
            </a:extLst>
          </p:cNvPr>
          <p:cNvSpPr>
            <a:spLocks noGrp="1"/>
          </p:cNvSpPr>
          <p:nvPr/>
        </p:nvSpPr>
        <p:spPr>
          <a:xfrm>
            <a:off x="590550" y="666750"/>
            <a:ext cx="723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3000"/>
              </a:lnSpc>
              <a:buNone/>
              <a:defRPr sz="23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3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Revisar cola y imprimir cola no hacen lo mismo.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44B291AD-82E4-45B0-A53D-7C5E1C127C44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La cola se recalcula con filtros y estado SQLite; solo se envia lo pendiente y registrable.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F9ED57-140C-44D7-BF1E-004F8BDFEEC0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CB09650A-C35D-4952-A569-3453E8D91044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4095750" cy="2857500"/>
          </a:xfrm>
          <a:prstGeom prst="roundRect">
            <a:avLst>
              <a:gd name="adj" fmla="val 2667"/>
            </a:avLst>
          </a:prstGeom>
          <a:solidFill>
            <a:srgbClr val="202329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304DE1D-E6E9-42A6-9E97-3C5B8DA0DECA}"/>
              </a:ext>
            </a:extLst>
          </p:cNvPr>
          <p:cNvSpPr>
            <a:spLocks noGrp="1"/>
          </p:cNvSpPr>
          <p:nvPr/>
        </p:nvSpPr>
        <p:spPr>
          <a:xfrm>
            <a:off x="704850" y="2019300"/>
            <a:ext cx="57150" cy="28575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0F01829-186E-482E-9C0B-3091F6DD55B7}"/>
              </a:ext>
            </a:extLst>
          </p:cNvPr>
          <p:cNvSpPr>
            <a:spLocks noGrp="1"/>
          </p:cNvSpPr>
          <p:nvPr/>
        </p:nvSpPr>
        <p:spPr>
          <a:xfrm>
            <a:off x="933450" y="3162300"/>
            <a:ext cx="3638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[INSERTAR CAPTURA: Revisar cola]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6C437AE-B0A7-4D55-BDC1-9E59A4A77DC0}"/>
              </a:ext>
            </a:extLst>
          </p:cNvPr>
          <p:cNvSpPr>
            <a:spLocks noGrp="1"/>
          </p:cNvSpPr>
          <p:nvPr/>
        </p:nvSpPr>
        <p:spPr>
          <a:xfrm>
            <a:off x="1085850" y="3533775"/>
            <a:ext cx="3333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buNone/>
              <a:defRPr sz="8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8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Lista de PDFs encontrados, faltantes, duplicados y estados.</a:t>
            </a:r>
          </a:p>
        </p:txBody>
      </p:sp>
      <p:sp>
        <p:nvSpPr>
          <p:cNvPr id="9" name="Rectángulo redondeado 8">
            <a:extLst>
              <a:ext uri="{FF2B5EF4-FFF2-40B4-BE49-F238E27FC236}">
                <a16:creationId xmlns:a16="http://schemas.microsoft.com/office/drawing/2014/main" id="{FFD6986B-1D10-4057-B53D-66ED74F2049D}"/>
              </a:ext>
            </a:extLst>
          </p:cNvPr>
          <p:cNvSpPr>
            <a:spLocks noGrp="1"/>
          </p:cNvSpPr>
          <p:nvPr/>
        </p:nvSpPr>
        <p:spPr>
          <a:xfrm>
            <a:off x="5334000" y="186690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4B5133F2-C1BC-4CC2-B3B0-8E2E52A9B9A9}"/>
              </a:ext>
            </a:extLst>
          </p:cNvPr>
          <p:cNvSpPr>
            <a:spLocks noGrp="1"/>
          </p:cNvSpPr>
          <p:nvPr/>
        </p:nvSpPr>
        <p:spPr>
          <a:xfrm>
            <a:off x="5334000" y="1866900"/>
            <a:ext cx="47625" cy="87630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3CE9F986-C04D-413F-9220-CB7C8924DF25}"/>
              </a:ext>
            </a:extLst>
          </p:cNvPr>
          <p:cNvSpPr>
            <a:spLocks noGrp="1"/>
          </p:cNvSpPr>
          <p:nvPr/>
        </p:nvSpPr>
        <p:spPr>
          <a:xfrm>
            <a:off x="5505450" y="2019300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Revisar cola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135BA19-70CB-4047-A59B-B8CF589AE40D}"/>
              </a:ext>
            </a:extLst>
          </p:cNvPr>
          <p:cNvSpPr>
            <a:spLocks noGrp="1"/>
          </p:cNvSpPr>
          <p:nvPr/>
        </p:nvSpPr>
        <p:spPr>
          <a:xfrm>
            <a:off x="5505450" y="2324100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No imprime. Solo localiza y ordena PDFs.</a:t>
            </a:r>
          </a:p>
        </p:txBody>
      </p:sp>
      <p:sp>
        <p:nvSpPr>
          <p:cNvPr id="13" name="Rectángulo redondeado 12">
            <a:extLst>
              <a:ext uri="{FF2B5EF4-FFF2-40B4-BE49-F238E27FC236}">
                <a16:creationId xmlns:a16="http://schemas.microsoft.com/office/drawing/2014/main" id="{86FAA7FB-EE7B-4B52-A7B9-091000AA22FB}"/>
              </a:ext>
            </a:extLst>
          </p:cNvPr>
          <p:cNvSpPr>
            <a:spLocks noGrp="1"/>
          </p:cNvSpPr>
          <p:nvPr/>
        </p:nvSpPr>
        <p:spPr>
          <a:xfrm>
            <a:off x="5334000" y="302895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E8970AD6-514F-450F-9BFE-21482C81D306}"/>
              </a:ext>
            </a:extLst>
          </p:cNvPr>
          <p:cNvSpPr>
            <a:spLocks noGrp="1"/>
          </p:cNvSpPr>
          <p:nvPr/>
        </p:nvSpPr>
        <p:spPr>
          <a:xfrm>
            <a:off x="5334000" y="3028950"/>
            <a:ext cx="47625" cy="87630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8792B3F4-BB88-4C90-900A-65017B67C973}"/>
              </a:ext>
            </a:extLst>
          </p:cNvPr>
          <p:cNvSpPr>
            <a:spLocks noGrp="1"/>
          </p:cNvSpPr>
          <p:nvPr/>
        </p:nvSpPr>
        <p:spPr>
          <a:xfrm>
            <a:off x="5505450" y="3181350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Confirmar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EB08D61A-F9C1-4C29-9841-66A15A0077EC}"/>
              </a:ext>
            </a:extLst>
          </p:cNvPr>
          <p:cNvSpPr>
            <a:spLocks noGrp="1"/>
          </p:cNvSpPr>
          <p:nvPr/>
        </p:nvSpPr>
        <p:spPr>
          <a:xfrm>
            <a:off x="5505450" y="3486150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Muestra cantidad, warnings y pendientes.</a:t>
            </a:r>
          </a:p>
        </p:txBody>
      </p:sp>
      <p:sp>
        <p:nvSpPr>
          <p:cNvPr id="17" name="Rectángulo redondeado 16">
            <a:extLst>
              <a:ext uri="{FF2B5EF4-FFF2-40B4-BE49-F238E27FC236}">
                <a16:creationId xmlns:a16="http://schemas.microsoft.com/office/drawing/2014/main" id="{B0A6F8DA-28F2-4D10-8F39-C424C459A170}"/>
              </a:ext>
            </a:extLst>
          </p:cNvPr>
          <p:cNvSpPr>
            <a:spLocks noGrp="1"/>
          </p:cNvSpPr>
          <p:nvPr/>
        </p:nvSpPr>
        <p:spPr>
          <a:xfrm>
            <a:off x="5334000" y="4191000"/>
            <a:ext cx="2190750" cy="876300"/>
          </a:xfrm>
          <a:prstGeom prst="roundRect">
            <a:avLst>
              <a:gd name="adj" fmla="val 8696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81F08885-0EAE-4573-97F2-8C06ED02CB48}"/>
              </a:ext>
            </a:extLst>
          </p:cNvPr>
          <p:cNvSpPr>
            <a:spLocks noGrp="1"/>
          </p:cNvSpPr>
          <p:nvPr/>
        </p:nvSpPr>
        <p:spPr>
          <a:xfrm>
            <a:off x="5334000" y="4191000"/>
            <a:ext cx="47625" cy="8763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B7E65CFA-6A84-4E09-AEBF-F95CA4938283}"/>
              </a:ext>
            </a:extLst>
          </p:cNvPr>
          <p:cNvSpPr>
            <a:spLocks noGrp="1"/>
          </p:cNvSpPr>
          <p:nvPr/>
        </p:nvSpPr>
        <p:spPr>
          <a:xfrm>
            <a:off x="5505450" y="4343400"/>
            <a:ext cx="1905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Imprimir cola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225EB2ED-8F69-4B4B-B367-439CBC2AC0BD}"/>
              </a:ext>
            </a:extLst>
          </p:cNvPr>
          <p:cNvSpPr>
            <a:spLocks noGrp="1"/>
          </p:cNvSpPr>
          <p:nvPr/>
        </p:nvSpPr>
        <p:spPr>
          <a:xfrm>
            <a:off x="5505450" y="4648200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Ejecuta lp con fit-to-page y landscape.</a:t>
            </a:r>
          </a:p>
        </p:txBody>
      </p:sp>
      <p:sp>
        <p:nvSpPr>
          <p:cNvPr id="21" name="Rectángulo redondeado 20">
            <a:extLst>
              <a:ext uri="{FF2B5EF4-FFF2-40B4-BE49-F238E27FC236}">
                <a16:creationId xmlns:a16="http://schemas.microsoft.com/office/drawing/2014/main" id="{B7C5C076-562B-4455-A16F-ED9F6AFBF37F}"/>
              </a:ext>
            </a:extLst>
          </p:cNvPr>
          <p:cNvSpPr>
            <a:spLocks noGrp="1"/>
          </p:cNvSpPr>
          <p:nvPr/>
        </p:nvSpPr>
        <p:spPr>
          <a:xfrm>
            <a:off x="8477250" y="2571750"/>
            <a:ext cx="2381250" cy="1066800"/>
          </a:xfrm>
          <a:prstGeom prst="roundRect">
            <a:avLst>
              <a:gd name="adj" fmla="val 7143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65A5E3D0-0E98-4118-8A00-15FAF4614EC2}"/>
              </a:ext>
            </a:extLst>
          </p:cNvPr>
          <p:cNvSpPr>
            <a:spLocks noGrp="1"/>
          </p:cNvSpPr>
          <p:nvPr/>
        </p:nvSpPr>
        <p:spPr>
          <a:xfrm>
            <a:off x="8477250" y="2571750"/>
            <a:ext cx="47625" cy="106680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98C9F4F5-5AA4-4553-8C5D-7878969F8947}"/>
              </a:ext>
            </a:extLst>
          </p:cNvPr>
          <p:cNvSpPr>
            <a:spLocks noGrp="1"/>
          </p:cNvSpPr>
          <p:nvPr/>
        </p:nvSpPr>
        <p:spPr>
          <a:xfrm>
            <a:off x="8648700" y="27241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Marca impreso=1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F7A74C90-6350-43A5-AD5A-F8158A6C59FD}"/>
              </a:ext>
            </a:extLst>
          </p:cNvPr>
          <p:cNvSpPr>
            <a:spLocks noGrp="1"/>
          </p:cNvSpPr>
          <p:nvPr/>
        </p:nvSpPr>
        <p:spPr>
          <a:xfrm>
            <a:off x="8648700" y="3028950"/>
            <a:ext cx="2057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Solo cuando macOS acepta el trabajo en cola.</a:t>
            </a:r>
          </a:p>
        </p:txBody>
      </p:sp>
      <p:sp>
        <p:nvSpPr>
          <p:cNvPr id="25" name="Rectángulo redondeado 24">
            <a:extLst>
              <a:ext uri="{FF2B5EF4-FFF2-40B4-BE49-F238E27FC236}">
                <a16:creationId xmlns:a16="http://schemas.microsoft.com/office/drawing/2014/main" id="{05592C34-C207-45AE-83CD-5D4856E0E7FC}"/>
              </a:ext>
            </a:extLst>
          </p:cNvPr>
          <p:cNvSpPr>
            <a:spLocks noGrp="1"/>
          </p:cNvSpPr>
          <p:nvPr/>
        </p:nvSpPr>
        <p:spPr>
          <a:xfrm>
            <a:off x="8477250" y="4095750"/>
            <a:ext cx="2381250" cy="1066800"/>
          </a:xfrm>
          <a:prstGeom prst="roundRect">
            <a:avLst>
              <a:gd name="adj" fmla="val 7143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F852ED95-C8DC-4C66-A75B-1EF313C7FF03}"/>
              </a:ext>
            </a:extLst>
          </p:cNvPr>
          <p:cNvSpPr>
            <a:spLocks noGrp="1"/>
          </p:cNvSpPr>
          <p:nvPr/>
        </p:nvSpPr>
        <p:spPr>
          <a:xfrm>
            <a:off x="8477250" y="4095750"/>
            <a:ext cx="47625" cy="1066800"/>
          </a:xfrm>
          <a:prstGeom prst="rect">
            <a:avLst/>
          </a:prstGeom>
          <a:solidFill>
            <a:srgbClr val="F28C28"/>
          </a:solidFill>
          <a:ln w="0">
            <a:solidFill>
              <a:srgbClr val="F28C28"/>
            </a:solidFill>
            <a:prstDash val="solid"/>
          </a:ln>
        </p:spPr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A2B71D66-0270-443F-853B-F22DBB1FAB53}"/>
              </a:ext>
            </a:extLst>
          </p:cNvPr>
          <p:cNvSpPr>
            <a:spLocks noGrp="1"/>
          </p:cNvSpPr>
          <p:nvPr/>
        </p:nvSpPr>
        <p:spPr>
          <a:xfrm>
            <a:off x="8648700" y="424815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Orden operativo</a:t>
            </a:r>
          </a:p>
        </p:txBody>
      </p:sp>
      <p:sp>
        <p:nvSpPr>
          <p:cNvPr id="28" name="Rectángulo 27">
            <a:extLst>
              <a:ext uri="{FF2B5EF4-FFF2-40B4-BE49-F238E27FC236}">
                <a16:creationId xmlns:a16="http://schemas.microsoft.com/office/drawing/2014/main" id="{8F5E9F00-199E-4B91-A361-DAC5783BA7C0}"/>
              </a:ext>
            </a:extLst>
          </p:cNvPr>
          <p:cNvSpPr>
            <a:spLocks noGrp="1"/>
          </p:cNvSpPr>
          <p:nvPr/>
        </p:nvSpPr>
        <p:spPr>
          <a:xfrm>
            <a:off x="8648700" y="4552950"/>
            <a:ext cx="2057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Envia en orden inverso al Excel para conservar la pila fisica.</a:t>
            </a:r>
          </a:p>
        </p:txBody>
      </p:sp>
      <p:sp>
        <p:nvSpPr>
          <p:cNvPr id="29" name="Rectángulo 28">
            <a:extLst>
              <a:ext uri="{FF2B5EF4-FFF2-40B4-BE49-F238E27FC236}">
                <a16:creationId xmlns:a16="http://schemas.microsoft.com/office/drawing/2014/main" id="{3E69F1A1-9EF4-411B-9EF4-8E8E6308795E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30" name="Rectángulo 29">
            <a:extLst>
              <a:ext uri="{FF2B5EF4-FFF2-40B4-BE49-F238E27FC236}">
                <a16:creationId xmlns:a16="http://schemas.microsoft.com/office/drawing/2014/main" id="{F2FCAF91-3DB9-4755-98FD-56EE80C53EFE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5489084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ángulo 25">
            <a:extLst>
              <a:ext uri="{FF2B5EF4-FFF2-40B4-BE49-F238E27FC236}">
                <a16:creationId xmlns:a16="http://schemas.microsoft.com/office/drawing/2014/main" id="{9910E5AC-AF93-4C24-8451-B172063BAC00}"/>
              </a:ext>
            </a:extLst>
          </p:cNvPr>
          <p:cNvSpPr>
            <a:spLocks noGrp="1"/>
          </p:cNvSpPr>
          <p:nvPr/>
        </p:nvSpPr>
        <p:spPr>
          <a:xfrm>
            <a:off x="590550" y="419100"/>
            <a:ext cx="4000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75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INTEGRACION RMC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E1AB351-167A-46EB-B4DB-40C129186456}"/>
              </a:ext>
            </a:extLst>
          </p:cNvPr>
          <p:cNvSpPr>
            <a:spLocks noGrp="1"/>
          </p:cNvSpPr>
          <p:nvPr/>
        </p:nvSpPr>
        <p:spPr>
          <a:xfrm>
            <a:off x="590550" y="666750"/>
            <a:ext cx="7239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3000"/>
              </a:lnSpc>
              <a:buNone/>
              <a:defRPr sz="23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3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Se integra por datos, no mezclando reglas entre herramientas.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1BEAF51B-2B5F-47CB-A2E4-C1EF845C6533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7334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buNone/>
              <a:defRPr sz="11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1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Control Center puede consultar rutas, claves, fechas e impresion sin que MockupTool toque tablas de RMCOp-Nike.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C33DAE6-DABA-49C8-8D56-928FA3B4EAF3}"/>
              </a:ext>
            </a:extLst>
          </p:cNvPr>
          <p:cNvSpPr>
            <a:spLocks noGrp="1"/>
          </p:cNvSpPr>
          <p:nvPr/>
        </p:nvSpPr>
        <p:spPr>
          <a:xfrm>
            <a:off x="590550" y="323850"/>
            <a:ext cx="514350" cy="381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5" name="Rectángulo redondeado 4">
            <a:extLst>
              <a:ext uri="{FF2B5EF4-FFF2-40B4-BE49-F238E27FC236}">
                <a16:creationId xmlns:a16="http://schemas.microsoft.com/office/drawing/2014/main" id="{2B5EC554-034C-434A-80C1-E91FB5CDC3C9}"/>
              </a:ext>
            </a:extLst>
          </p:cNvPr>
          <p:cNvSpPr>
            <a:spLocks noGrp="1"/>
          </p:cNvSpPr>
          <p:nvPr/>
        </p:nvSpPr>
        <p:spPr>
          <a:xfrm>
            <a:off x="876300" y="245745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F8B51E9C-18C5-4CB2-8B82-23D77B6FB0BB}"/>
              </a:ext>
            </a:extLst>
          </p:cNvPr>
          <p:cNvSpPr>
            <a:spLocks noGrp="1"/>
          </p:cNvSpPr>
          <p:nvPr/>
        </p:nvSpPr>
        <p:spPr>
          <a:xfrm>
            <a:off x="1143000" y="27241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6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RMC MockupTool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B61BD9F-5F49-4D6B-8417-51A772E2EAAB}"/>
              </a:ext>
            </a:extLst>
          </p:cNvPr>
          <p:cNvSpPr>
            <a:spLocks noGrp="1"/>
          </p:cNvSpPr>
          <p:nvPr/>
        </p:nvSpPr>
        <p:spPr>
          <a:xfrm>
            <a:off x="1162050" y="3143250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9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Genera PDFs anotados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433D4C2C-2BC5-4490-A1D4-7ED27A649686}"/>
              </a:ext>
            </a:extLst>
          </p:cNvPr>
          <p:cNvSpPr>
            <a:spLocks noGrp="1"/>
          </p:cNvSpPr>
          <p:nvPr/>
        </p:nvSpPr>
        <p:spPr>
          <a:xfrm>
            <a:off x="4857750" y="1962150"/>
            <a:ext cx="2381250" cy="2133600"/>
          </a:xfrm>
          <a:prstGeom prst="roundRect">
            <a:avLst>
              <a:gd name="adj" fmla="val 3571"/>
            </a:avLst>
          </a:prstGeom>
          <a:solidFill>
            <a:srgbClr val="202329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C4F14E1-36D6-437A-9105-E1C0345A2175}"/>
              </a:ext>
            </a:extLst>
          </p:cNvPr>
          <p:cNvSpPr>
            <a:spLocks noGrp="1"/>
          </p:cNvSpPr>
          <p:nvPr/>
        </p:nvSpPr>
        <p:spPr>
          <a:xfrm>
            <a:off x="5124450" y="22669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F3C747"/>
                </a:solidFill>
                <a:latin typeface="Calibri"/>
                <a:ea typeface="Calibri"/>
                <a:cs typeface="Calibri"/>
              </a:defRPr>
            </a:pPr>
            <a:r>
              <a:rPr lang="es-ES_tradnl" sz="1800" b="1">
                <a:solidFill>
                  <a:srgbClr val="F3C747"/>
                </a:solidFill>
                <a:latin typeface="Calibri"/>
                <a:ea typeface="Calibri"/>
                <a:cs typeface="Calibri"/>
              </a:rPr>
              <a:t>RMC_CEP.sqlite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2CC4EFD-DB1A-4CB2-BBEE-8C1EED14C738}"/>
              </a:ext>
            </a:extLst>
          </p:cNvPr>
          <p:cNvSpPr>
            <a:spLocks noGrp="1"/>
          </p:cNvSpPr>
          <p:nvPr/>
        </p:nvSpPr>
        <p:spPr>
          <a:xfrm>
            <a:off x="5314950" y="2857500"/>
            <a:ext cx="1428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18000"/>
              </a:lnSpc>
              <a:buNone/>
              <a:defRPr sz="15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runs</a:t>
            </a:r>
          </a:p>
          <a:p>
            <a:pPr algn="ctr">
              <a:lnSpc>
                <a:spcPct val="118000"/>
              </a:lnSpc>
              <a:buNone/>
              <a:defRPr sz="15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items</a:t>
            </a:r>
          </a:p>
          <a:p>
            <a:pPr algn="ctr">
              <a:lnSpc>
                <a:spcPct val="118000"/>
              </a:lnSpc>
              <a:buNone/>
              <a:defRPr sz="15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cep_registry</a:t>
            </a:r>
          </a:p>
          <a:p>
            <a:pPr algn="ctr">
              <a:lnSpc>
                <a:spcPct val="118000"/>
              </a:lnSpc>
              <a:buNone/>
              <a:defRPr sz="1500" b="0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500" b="0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variants leidas</a:t>
            </a:r>
          </a:p>
        </p:txBody>
      </p:sp>
      <p:sp>
        <p:nvSpPr>
          <p:cNvPr id="11" name="Rectángulo redondeado 10">
            <a:extLst>
              <a:ext uri="{FF2B5EF4-FFF2-40B4-BE49-F238E27FC236}">
                <a16:creationId xmlns:a16="http://schemas.microsoft.com/office/drawing/2014/main" id="{5E71290C-6962-4AE9-BFEF-0F783A689B41}"/>
              </a:ext>
            </a:extLst>
          </p:cNvPr>
          <p:cNvSpPr>
            <a:spLocks noGrp="1"/>
          </p:cNvSpPr>
          <p:nvPr/>
        </p:nvSpPr>
        <p:spPr>
          <a:xfrm>
            <a:off x="8896350" y="2457450"/>
            <a:ext cx="2381250" cy="1123950"/>
          </a:xfrm>
          <a:prstGeom prst="roundRect">
            <a:avLst>
              <a:gd name="adj" fmla="val 6780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D98CB3FD-E6C2-40B7-A901-2B4AF26739C9}"/>
              </a:ext>
            </a:extLst>
          </p:cNvPr>
          <p:cNvSpPr>
            <a:spLocks noGrp="1"/>
          </p:cNvSpPr>
          <p:nvPr/>
        </p:nvSpPr>
        <p:spPr>
          <a:xfrm>
            <a:off x="9163050" y="27241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6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Control Center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5EA110A2-3B6F-4273-8930-701591E98603}"/>
              </a:ext>
            </a:extLst>
          </p:cNvPr>
          <p:cNvSpPr>
            <a:spLocks noGrp="1"/>
          </p:cNvSpPr>
          <p:nvPr/>
        </p:nvSpPr>
        <p:spPr>
          <a:xfrm>
            <a:off x="9182100" y="3143250"/>
            <a:ext cx="1771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97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7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Consulta paths y estado</a:t>
            </a:r>
          </a:p>
        </p:txBody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6DE0FA37-54DA-49D8-9EE3-30CBCD62783E}"/>
              </a:ext>
            </a:extLst>
          </p:cNvPr>
          <p:cNvSpPr>
            <a:spLocks noGrp="1"/>
          </p:cNvSpPr>
          <p:nvPr/>
        </p:nvSpPr>
        <p:spPr>
          <a:xfrm>
            <a:off x="3505200" y="28575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80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----&gt;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D5B100C9-B43C-4ED6-982C-1404A19255D5}"/>
              </a:ext>
            </a:extLst>
          </p:cNvPr>
          <p:cNvSpPr>
            <a:spLocks noGrp="1"/>
          </p:cNvSpPr>
          <p:nvPr/>
        </p:nvSpPr>
        <p:spPr>
          <a:xfrm>
            <a:off x="7524750" y="28575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1800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----&gt;</a:t>
            </a:r>
          </a:p>
        </p:txBody>
      </p:sp>
      <p:sp>
        <p:nvSpPr>
          <p:cNvPr id="16" name="Rectángulo redondeado 15">
            <a:extLst>
              <a:ext uri="{FF2B5EF4-FFF2-40B4-BE49-F238E27FC236}">
                <a16:creationId xmlns:a16="http://schemas.microsoft.com/office/drawing/2014/main" id="{0E275BEB-F9B7-4D07-B6EC-847065505F1A}"/>
              </a:ext>
            </a:extLst>
          </p:cNvPr>
          <p:cNvSpPr>
            <a:spLocks noGrp="1"/>
          </p:cNvSpPr>
          <p:nvPr/>
        </p:nvSpPr>
        <p:spPr>
          <a:xfrm>
            <a:off x="1676400" y="4895850"/>
            <a:ext cx="3143250" cy="742950"/>
          </a:xfrm>
          <a:prstGeom prst="roundRect">
            <a:avLst>
              <a:gd name="adj" fmla="val 10256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6528D271-A71C-4915-896F-11C22AB7BD6C}"/>
              </a:ext>
            </a:extLst>
          </p:cNvPr>
          <p:cNvSpPr>
            <a:spLocks noGrp="1"/>
          </p:cNvSpPr>
          <p:nvPr/>
        </p:nvSpPr>
        <p:spPr>
          <a:xfrm>
            <a:off x="1676400" y="4895850"/>
            <a:ext cx="47625" cy="74295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A4E09CD-6650-41F8-B421-AEF247B9EDFD}"/>
              </a:ext>
            </a:extLst>
          </p:cNvPr>
          <p:cNvSpPr>
            <a:spLocks noGrp="1"/>
          </p:cNvSpPr>
          <p:nvPr/>
        </p:nvSpPr>
        <p:spPr>
          <a:xfrm>
            <a:off x="1847850" y="50482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Limite claro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00A68344-DDD5-447B-9B73-54E89E8E6BC7}"/>
              </a:ext>
            </a:extLst>
          </p:cNvPr>
          <p:cNvSpPr>
            <a:spLocks noGrp="1"/>
          </p:cNvSpPr>
          <p:nvPr/>
        </p:nvSpPr>
        <p:spPr>
          <a:xfrm>
            <a:off x="1847850" y="5353050"/>
            <a:ext cx="2819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No modifica tablas rmcop_nike_* ni comparte reglas de escritura.</a:t>
            </a:r>
          </a:p>
        </p:txBody>
      </p:sp>
      <p:sp>
        <p:nvSpPr>
          <p:cNvPr id="20" name="Rectángulo redondeado 19">
            <a:extLst>
              <a:ext uri="{FF2B5EF4-FFF2-40B4-BE49-F238E27FC236}">
                <a16:creationId xmlns:a16="http://schemas.microsoft.com/office/drawing/2014/main" id="{036B960B-E29F-4E8C-925B-67C5E9A2222B}"/>
              </a:ext>
            </a:extLst>
          </p:cNvPr>
          <p:cNvSpPr>
            <a:spLocks noGrp="1"/>
          </p:cNvSpPr>
          <p:nvPr/>
        </p:nvSpPr>
        <p:spPr>
          <a:xfrm>
            <a:off x="6191250" y="4895850"/>
            <a:ext cx="3143250" cy="742950"/>
          </a:xfrm>
          <a:prstGeom prst="roundRect">
            <a:avLst>
              <a:gd name="adj" fmla="val 10256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88E27C3-5CA4-46DA-8810-DF411FEC9ED1}"/>
              </a:ext>
            </a:extLst>
          </p:cNvPr>
          <p:cNvSpPr>
            <a:spLocks noGrp="1"/>
          </p:cNvSpPr>
          <p:nvPr/>
        </p:nvSpPr>
        <p:spPr>
          <a:xfrm>
            <a:off x="6191250" y="4895850"/>
            <a:ext cx="47625" cy="74295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22" name="Rectángulo 21">
            <a:extLst>
              <a:ext uri="{FF2B5EF4-FFF2-40B4-BE49-F238E27FC236}">
                <a16:creationId xmlns:a16="http://schemas.microsoft.com/office/drawing/2014/main" id="{1641D752-07F4-4E3D-B558-CA39579DE9B5}"/>
              </a:ext>
            </a:extLst>
          </p:cNvPr>
          <p:cNvSpPr>
            <a:spLocks noGrp="1"/>
          </p:cNvSpPr>
          <p:nvPr/>
        </p:nvSpPr>
        <p:spPr>
          <a:xfrm>
            <a:off x="6362700" y="50482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Contrato util</a:t>
            </a:r>
          </a:p>
        </p:txBody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29C73D38-9E13-4CFD-8276-CB42476D0373}"/>
              </a:ext>
            </a:extLst>
          </p:cNvPr>
          <p:cNvSpPr>
            <a:spLocks noGrp="1"/>
          </p:cNvSpPr>
          <p:nvPr/>
        </p:nvSpPr>
        <p:spPr>
          <a:xfrm>
            <a:off x="6362700" y="5353050"/>
            <a:ext cx="28194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Control Center debe usar path persistido cuando exista.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BBE366D6-91FE-46A8-B3EC-EC1BC112F27A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3EB2AAE8-07CC-4EA7-A271-3416883165A6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65332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ángulo 27">
            <a:extLst>
              <a:ext uri="{FF2B5EF4-FFF2-40B4-BE49-F238E27FC236}">
                <a16:creationId xmlns:a16="http://schemas.microsoft.com/office/drawing/2014/main" id="{014C88B9-B93A-4509-9F92-6D4A3E9B3E4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933A7B0-81E5-4531-B97F-B1C335F4D7B9}"/>
              </a:ext>
            </a:extLst>
          </p:cNvPr>
          <p:cNvSpPr>
            <a:spLocks noGrp="1"/>
          </p:cNvSpPr>
          <p:nvPr/>
        </p:nvSpPr>
        <p:spPr>
          <a:xfrm>
            <a:off x="666750" y="533400"/>
            <a:ext cx="1143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825" b="1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825" b="1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CIERRE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E82F44F-06EC-494D-B910-D182A7B1395A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6667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270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270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MockupTool convierte revision manual en evidencia visual recuperable.</a:t>
            </a:r>
          </a:p>
        </p:txBody>
      </p:sp>
      <p:sp>
        <p:nvSpPr>
          <p:cNvPr id="4" name="Rectángulo redondeado 3">
            <a:extLst>
              <a:ext uri="{FF2B5EF4-FFF2-40B4-BE49-F238E27FC236}">
                <a16:creationId xmlns:a16="http://schemas.microsoft.com/office/drawing/2014/main" id="{564C223B-D1EE-4BB3-8869-BE2B4F33505F}"/>
              </a:ext>
            </a:extLst>
          </p:cNvPr>
          <p:cNvSpPr>
            <a:spLocks noGrp="1"/>
          </p:cNvSpPr>
          <p:nvPr/>
        </p:nvSpPr>
        <p:spPr>
          <a:xfrm>
            <a:off x="781050" y="2514600"/>
            <a:ext cx="2381250" cy="990600"/>
          </a:xfrm>
          <a:prstGeom prst="roundRect">
            <a:avLst>
              <a:gd name="adj" fmla="val 7692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15678DC5-749B-470F-8815-68AAF14CEE70}"/>
              </a:ext>
            </a:extLst>
          </p:cNvPr>
          <p:cNvSpPr>
            <a:spLocks noGrp="1"/>
          </p:cNvSpPr>
          <p:nvPr/>
        </p:nvSpPr>
        <p:spPr>
          <a:xfrm>
            <a:off x="781050" y="2514600"/>
            <a:ext cx="47625" cy="9906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0A226D6-6E71-4F4C-A8AA-EB7D91A61751}"/>
              </a:ext>
            </a:extLst>
          </p:cNvPr>
          <p:cNvSpPr>
            <a:spLocks noGrp="1"/>
          </p:cNvSpPr>
          <p:nvPr/>
        </p:nvSpPr>
        <p:spPr>
          <a:xfrm>
            <a:off x="952500" y="2667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Produccion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39D8C00-D04D-436B-B8C9-62685D15BE2C}"/>
              </a:ext>
            </a:extLst>
          </p:cNvPr>
          <p:cNvSpPr>
            <a:spLocks noGrp="1"/>
          </p:cNvSpPr>
          <p:nvPr/>
        </p:nvSpPr>
        <p:spPr>
          <a:xfrm>
            <a:off x="952500" y="2971800"/>
            <a:ext cx="2057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Sabe que falta, que existe y que se omite.</a:t>
            </a:r>
          </a:p>
        </p:txBody>
      </p:sp>
      <p:sp>
        <p:nvSpPr>
          <p:cNvPr id="8" name="Rectángulo redondeado 7">
            <a:extLst>
              <a:ext uri="{FF2B5EF4-FFF2-40B4-BE49-F238E27FC236}">
                <a16:creationId xmlns:a16="http://schemas.microsoft.com/office/drawing/2014/main" id="{0D8BAB8A-9964-41F3-8934-8DADCAB3BFAC}"/>
              </a:ext>
            </a:extLst>
          </p:cNvPr>
          <p:cNvSpPr>
            <a:spLocks noGrp="1"/>
          </p:cNvSpPr>
          <p:nvPr/>
        </p:nvSpPr>
        <p:spPr>
          <a:xfrm>
            <a:off x="3638550" y="2514600"/>
            <a:ext cx="2381250" cy="990600"/>
          </a:xfrm>
          <a:prstGeom prst="roundRect">
            <a:avLst>
              <a:gd name="adj" fmla="val 7692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890EA00-3444-4D47-B7C2-96DBFC435C3E}"/>
              </a:ext>
            </a:extLst>
          </p:cNvPr>
          <p:cNvSpPr>
            <a:spLocks noGrp="1"/>
          </p:cNvSpPr>
          <p:nvPr/>
        </p:nvSpPr>
        <p:spPr>
          <a:xfrm>
            <a:off x="3638550" y="2514600"/>
            <a:ext cx="47625" cy="990600"/>
          </a:xfrm>
          <a:prstGeom prst="rect">
            <a:avLst/>
          </a:prstGeom>
          <a:solidFill>
            <a:srgbClr val="2D7FF9"/>
          </a:solidFill>
          <a:ln w="0">
            <a:solidFill>
              <a:srgbClr val="2D7FF9"/>
            </a:solidFill>
            <a:prstDash val="solid"/>
          </a:ln>
        </p:spPr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9A283BB3-B6C6-463B-B41D-9E836D01261F}"/>
              </a:ext>
            </a:extLst>
          </p:cNvPr>
          <p:cNvSpPr>
            <a:spLocks noGrp="1"/>
          </p:cNvSpPr>
          <p:nvPr/>
        </p:nvSpPr>
        <p:spPr>
          <a:xfrm>
            <a:off x="3810000" y="2667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Diseno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D6EC483-A091-4062-9DC6-CA2D57060748}"/>
              </a:ext>
            </a:extLst>
          </p:cNvPr>
          <p:cNvSpPr>
            <a:spLocks noGrp="1"/>
          </p:cNvSpPr>
          <p:nvPr/>
        </p:nvSpPr>
        <p:spPr>
          <a:xfrm>
            <a:off x="3810000" y="2971800"/>
            <a:ext cx="2057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Revisa datos anotados sin abrir multiples fuentes.</a:t>
            </a:r>
          </a:p>
        </p:txBody>
      </p:sp>
      <p:sp>
        <p:nvSpPr>
          <p:cNvPr id="12" name="Rectángulo redondeado 11">
            <a:extLst>
              <a:ext uri="{FF2B5EF4-FFF2-40B4-BE49-F238E27FC236}">
                <a16:creationId xmlns:a16="http://schemas.microsoft.com/office/drawing/2014/main" id="{D6B94287-7CE9-4160-938A-E82C2991B378}"/>
              </a:ext>
            </a:extLst>
          </p:cNvPr>
          <p:cNvSpPr>
            <a:spLocks noGrp="1"/>
          </p:cNvSpPr>
          <p:nvPr/>
        </p:nvSpPr>
        <p:spPr>
          <a:xfrm>
            <a:off x="6496050" y="2514600"/>
            <a:ext cx="2381250" cy="990600"/>
          </a:xfrm>
          <a:prstGeom prst="roundRect">
            <a:avLst>
              <a:gd name="adj" fmla="val 7692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B2A77FA2-D01C-44AA-A6E8-F025B92B62EC}"/>
              </a:ext>
            </a:extLst>
          </p:cNvPr>
          <p:cNvSpPr>
            <a:spLocks noGrp="1"/>
          </p:cNvSpPr>
          <p:nvPr/>
        </p:nvSpPr>
        <p:spPr>
          <a:xfrm>
            <a:off x="6496050" y="2514600"/>
            <a:ext cx="47625" cy="990600"/>
          </a:xfrm>
          <a:prstGeom prst="rect">
            <a:avLst/>
          </a:prstGeom>
          <a:solidFill>
            <a:srgbClr val="20B26B"/>
          </a:solidFill>
          <a:ln w="0">
            <a:solidFill>
              <a:srgbClr val="20B26B"/>
            </a:solidFill>
            <a:prstDash val="solid"/>
          </a:ln>
        </p:spPr>
      </p:sp>
      <p:sp>
        <p:nvSpPr>
          <p:cNvPr id="14" name="Rectángulo 13">
            <a:extLst>
              <a:ext uri="{FF2B5EF4-FFF2-40B4-BE49-F238E27FC236}">
                <a16:creationId xmlns:a16="http://schemas.microsoft.com/office/drawing/2014/main" id="{73E0DAD5-DD8B-4031-A740-AF62C32310E9}"/>
              </a:ext>
            </a:extLst>
          </p:cNvPr>
          <p:cNvSpPr>
            <a:spLocks noGrp="1"/>
          </p:cNvSpPr>
          <p:nvPr/>
        </p:nvSpPr>
        <p:spPr>
          <a:xfrm>
            <a:off x="6667500" y="2667000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Seguimiento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40717E0-BBC4-4035-AB02-499D15BC2084}"/>
              </a:ext>
            </a:extLst>
          </p:cNvPr>
          <p:cNvSpPr>
            <a:spLocks noGrp="1"/>
          </p:cNvSpPr>
          <p:nvPr/>
        </p:nvSpPr>
        <p:spPr>
          <a:xfrm>
            <a:off x="6667500" y="2971800"/>
            <a:ext cx="2057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Consulta path, fecha, clave e impreso.</a:t>
            </a:r>
          </a:p>
        </p:txBody>
      </p:sp>
      <p:sp>
        <p:nvSpPr>
          <p:cNvPr id="16" name="Rectángulo redondeado 15">
            <a:extLst>
              <a:ext uri="{FF2B5EF4-FFF2-40B4-BE49-F238E27FC236}">
                <a16:creationId xmlns:a16="http://schemas.microsoft.com/office/drawing/2014/main" id="{84F555C2-63D8-4949-98BB-8C7FEC3B7EDF}"/>
              </a:ext>
            </a:extLst>
          </p:cNvPr>
          <p:cNvSpPr>
            <a:spLocks noGrp="1"/>
          </p:cNvSpPr>
          <p:nvPr/>
        </p:nvSpPr>
        <p:spPr>
          <a:xfrm>
            <a:off x="9353550" y="2514600"/>
            <a:ext cx="2000250" cy="990600"/>
          </a:xfrm>
          <a:prstGeom prst="roundRect">
            <a:avLst>
              <a:gd name="adj" fmla="val 7692"/>
            </a:avLst>
          </a:prstGeom>
          <a:solidFill>
            <a:srgbClr val="2B2F35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AF99CC5-5B6A-42D8-9B76-EBA5661EF653}"/>
              </a:ext>
            </a:extLst>
          </p:cNvPr>
          <p:cNvSpPr>
            <a:spLocks noGrp="1"/>
          </p:cNvSpPr>
          <p:nvPr/>
        </p:nvSpPr>
        <p:spPr>
          <a:xfrm>
            <a:off x="9353550" y="2514600"/>
            <a:ext cx="47625" cy="990600"/>
          </a:xfrm>
          <a:prstGeom prst="rect">
            <a:avLst/>
          </a:prstGeom>
          <a:solidFill>
            <a:srgbClr val="F3C747"/>
          </a:solidFill>
          <a:ln w="0">
            <a:solidFill>
              <a:srgbClr val="F3C747"/>
            </a:solidFill>
            <a:prstDash val="solid"/>
          </a:ln>
        </p:spPr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7BCB836E-5AF8-48AF-BD5A-B226063B57CC}"/>
              </a:ext>
            </a:extLst>
          </p:cNvPr>
          <p:cNvSpPr>
            <a:spLocks noGrp="1"/>
          </p:cNvSpPr>
          <p:nvPr/>
        </p:nvSpPr>
        <p:spPr>
          <a:xfrm>
            <a:off x="9525000" y="2667000"/>
            <a:ext cx="1714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Control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4AA10D1E-1BF5-4D36-9191-68EEC05CB9EA}"/>
              </a:ext>
            </a:extLst>
          </p:cNvPr>
          <p:cNvSpPr>
            <a:spLocks noGrp="1"/>
          </p:cNvSpPr>
          <p:nvPr/>
        </p:nvSpPr>
        <p:spPr>
          <a:xfrm>
            <a:off x="9525000" y="2971800"/>
            <a:ext cx="16764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14000"/>
              </a:lnSpc>
              <a:buNone/>
              <a:defRPr sz="938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938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Evita duplicados con clave UNIQUE.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382BDB34-238E-4D48-AA56-A152FF97A7F7}"/>
              </a:ext>
            </a:extLst>
          </p:cNvPr>
          <p:cNvSpPr>
            <a:spLocks noGrp="1"/>
          </p:cNvSpPr>
          <p:nvPr/>
        </p:nvSpPr>
        <p:spPr>
          <a:xfrm>
            <a:off x="800100" y="43624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725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Mejoras abiertas</a:t>
            </a: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E670D6E-99F4-45FE-8B1D-38BBD3ECC3E6}"/>
              </a:ext>
            </a:extLst>
          </p:cNvPr>
          <p:cNvSpPr>
            <a:spLocks noGrp="1"/>
          </p:cNvSpPr>
          <p:nvPr/>
        </p:nvSpPr>
        <p:spPr>
          <a:xfrm>
            <a:off x="819150" y="4876800"/>
            <a:ext cx="7239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22000"/>
              </a:lnSpc>
              <a:buNone/>
              <a:defRPr sz="135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1. Separar historial inmutable, assets y print_events.</a:t>
            </a:r>
          </a:p>
          <a:p>
            <a:pPr algn="l">
              <a:lnSpc>
                <a:spcPct val="122000"/>
              </a:lnSpc>
              <a:buNone/>
              <a:defRPr sz="135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2. Completar flujo para fuentes JPG.</a:t>
            </a:r>
          </a:p>
          <a:p>
            <a:pPr algn="l">
              <a:lnSpc>
                <a:spcPct val="122000"/>
              </a:lnSpc>
              <a:buNone/>
              <a:defRPr sz="135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3. Diagnostico agrupado de mockups faltantes.</a:t>
            </a:r>
          </a:p>
          <a:p>
            <a:pPr algn="l">
              <a:lnSpc>
                <a:spcPct val="122000"/>
              </a:lnSpc>
              <a:buNone/>
              <a:defRPr sz="1350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1350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4. Consulta visual mas directa desde Control Center.</a:t>
            </a:r>
          </a:p>
        </p:txBody>
      </p:sp>
      <p:sp>
        <p:nvSpPr>
          <p:cNvPr id="22" name="Rectángulo redondeado 21">
            <a:extLst>
              <a:ext uri="{FF2B5EF4-FFF2-40B4-BE49-F238E27FC236}">
                <a16:creationId xmlns:a16="http://schemas.microsoft.com/office/drawing/2014/main" id="{C6D7BB21-7AD9-41F4-85FD-73070F8BB459}"/>
              </a:ext>
            </a:extLst>
          </p:cNvPr>
          <p:cNvSpPr>
            <a:spLocks noGrp="1"/>
          </p:cNvSpPr>
          <p:nvPr/>
        </p:nvSpPr>
        <p:spPr>
          <a:xfrm>
            <a:off x="8648700" y="4552950"/>
            <a:ext cx="2381250" cy="1104900"/>
          </a:xfrm>
          <a:prstGeom prst="roundRect">
            <a:avLst>
              <a:gd name="adj" fmla="val 6897"/>
            </a:avLst>
          </a:prstGeom>
          <a:solidFill>
            <a:srgbClr val="202329"/>
          </a:solidFill>
          <a:ln w="9525">
            <a:solidFill>
              <a:srgbClr val="3A3F47"/>
            </a:solidFill>
            <a:prstDash val="solid"/>
          </a:ln>
        </p:spPr>
      </p:sp>
      <p:sp>
        <p:nvSpPr>
          <p:cNvPr id="23" name="Rectángulo 22">
            <a:extLst>
              <a:ext uri="{FF2B5EF4-FFF2-40B4-BE49-F238E27FC236}">
                <a16:creationId xmlns:a16="http://schemas.microsoft.com/office/drawing/2014/main" id="{37DE90E9-DDBE-40AC-ACFF-61ABA24E0895}"/>
              </a:ext>
            </a:extLst>
          </p:cNvPr>
          <p:cNvSpPr>
            <a:spLocks noGrp="1"/>
          </p:cNvSpPr>
          <p:nvPr/>
        </p:nvSpPr>
        <p:spPr>
          <a:xfrm>
            <a:off x="8648700" y="4552950"/>
            <a:ext cx="57150" cy="1104900"/>
          </a:xfrm>
          <a:prstGeom prst="rect">
            <a:avLst/>
          </a:prstGeom>
          <a:solidFill>
            <a:srgbClr val="BD1F36"/>
          </a:solidFill>
          <a:ln w="0">
            <a:solidFill>
              <a:srgbClr val="BD1F36"/>
            </a:solidFill>
            <a:prstDash val="solid"/>
          </a:ln>
        </p:spPr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7F444E79-1AF7-4D5A-A8EE-C07623C0C0B1}"/>
              </a:ext>
            </a:extLst>
          </p:cNvPr>
          <p:cNvSpPr>
            <a:spLocks noGrp="1"/>
          </p:cNvSpPr>
          <p:nvPr/>
        </p:nvSpPr>
        <p:spPr>
          <a:xfrm>
            <a:off x="8877300" y="4994910"/>
            <a:ext cx="1924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3F4F6"/>
                </a:solidFill>
                <a:latin typeface="Calibri"/>
                <a:ea typeface="Calibri"/>
                <a:cs typeface="Calibri"/>
              </a:defRPr>
            </a:pPr>
            <a:r>
              <a:rPr lang="es-ES_tradnl" sz="1200" b="1">
                <a:solidFill>
                  <a:srgbClr val="F3F4F6"/>
                </a:solidFill>
                <a:latin typeface="Calibri"/>
                <a:ea typeface="Calibri"/>
                <a:cs typeface="Calibri"/>
              </a:rPr>
              <a:t>[INSERTAR MOCKUP REAL]</a:t>
            </a:r>
          </a:p>
        </p:txBody>
      </p:sp>
      <p:sp>
        <p:nvSpPr>
          <p:cNvPr id="25" name="Rectángulo 24">
            <a:extLst>
              <a:ext uri="{FF2B5EF4-FFF2-40B4-BE49-F238E27FC236}">
                <a16:creationId xmlns:a16="http://schemas.microsoft.com/office/drawing/2014/main" id="{002A4FBF-47C1-42D1-B198-867E1E23ADE1}"/>
              </a:ext>
            </a:extLst>
          </p:cNvPr>
          <p:cNvSpPr>
            <a:spLocks noGrp="1"/>
          </p:cNvSpPr>
          <p:nvPr/>
        </p:nvSpPr>
        <p:spPr>
          <a:xfrm>
            <a:off x="9029700" y="5138547"/>
            <a:ext cx="1619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ctr">
              <a:lnSpc>
                <a:spcPct val="110000"/>
              </a:lnSpc>
              <a:buNone/>
              <a:defRPr sz="825" b="0">
                <a:solidFill>
                  <a:srgbClr val="B8BEC8"/>
                </a:solidFill>
                <a:latin typeface="Calibri"/>
                <a:ea typeface="Calibri"/>
                <a:cs typeface="Calibri"/>
              </a:defRPr>
            </a:pPr>
            <a:r>
              <a:rPr lang="es-ES_tradnl" sz="825" b="0">
                <a:solidFill>
                  <a:srgbClr val="B8BEC8"/>
                </a:solidFill>
                <a:latin typeface="Calibri"/>
                <a:ea typeface="Calibri"/>
                <a:cs typeface="Calibri"/>
              </a:rPr>
              <a:t>Ejemplo final para cierre ejecutivo.</a:t>
            </a:r>
          </a:p>
        </p:txBody>
      </p:sp>
      <p:sp>
        <p:nvSpPr>
          <p:cNvPr id="26" name="Rectángulo 25">
            <a:extLst>
              <a:ext uri="{FF2B5EF4-FFF2-40B4-BE49-F238E27FC236}">
                <a16:creationId xmlns:a16="http://schemas.microsoft.com/office/drawing/2014/main" id="{950AE0FC-5943-49F6-9A64-F46725461993}"/>
              </a:ext>
            </a:extLst>
          </p:cNvPr>
          <p:cNvSpPr>
            <a:spLocks noGrp="1"/>
          </p:cNvSpPr>
          <p:nvPr/>
        </p:nvSpPr>
        <p:spPr>
          <a:xfrm>
            <a:off x="533400" y="651510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l">
              <a:lnSpc>
                <a:spcPct val="108000"/>
              </a:lnSpc>
              <a:buNone/>
              <a:defRPr sz="675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675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RMC Control System | RMC MockupTool</a:t>
            </a:r>
          </a:p>
        </p:txBody>
      </p:sp>
      <p:sp>
        <p:nvSpPr>
          <p:cNvPr id="27" name="Rectángulo 26">
            <a:extLst>
              <a:ext uri="{FF2B5EF4-FFF2-40B4-BE49-F238E27FC236}">
                <a16:creationId xmlns:a16="http://schemas.microsoft.com/office/drawing/2014/main" id="{1B457B12-C058-4BBA-AD29-5C6F9CFA5AA8}"/>
              </a:ext>
            </a:extLst>
          </p:cNvPr>
          <p:cNvSpPr>
            <a:spLocks noGrp="1"/>
          </p:cNvSpPr>
          <p:nvPr/>
        </p:nvSpPr>
        <p:spPr>
          <a:xfrm>
            <a:off x="11334750" y="649605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/>
          <a:lstStyle/>
          <a:p>
            <a:pPr algn="r">
              <a:lnSpc>
                <a:spcPct val="108000"/>
              </a:lnSpc>
              <a:buNone/>
              <a:defRPr sz="750" b="0">
                <a:solidFill>
                  <a:srgbClr val="7D8592"/>
                </a:solidFill>
                <a:latin typeface="Calibri"/>
                <a:ea typeface="Calibri"/>
                <a:cs typeface="Calibri"/>
              </a:defRPr>
            </a:pPr>
            <a:r>
              <a:rPr lang="es-ES_tradnl" sz="750" b="0">
                <a:solidFill>
                  <a:srgbClr val="7D8592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8851997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307</TotalTime>
  <Words>1586</Words>
  <Application>Microsoft Macintosh PowerPoint</Application>
  <DocSecurity>0</DocSecurity>
  <PresentationFormat>Panorámica</PresentationFormat>
  <Paragraphs>225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Calibri</vt:lpstr>
      <vt:lpstr>ChatGPT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RMLSUB1</cp:lastModifiedBy>
  <cp:revision>5</cp:revision>
  <dcterms:created xsi:type="dcterms:W3CDTF">2026-07-08T22:05:05Z</dcterms:created>
  <dcterms:modified xsi:type="dcterms:W3CDTF">2026-07-09T19:54:29Z</dcterms:modified>
</cp:coreProperties>
</file>